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Platform / Roadmap</c:v>
                </c:pt>
              </c:strCache>
            </c:strRef>
          </c:tx>
          <c:spPr>
            <a:solidFill>
              <a:srgbClr val="F5B700">
                <a:alpha val="70000"/>
              </a:srgbClr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xVal>
            <c:numRef>
              <c:f>Sheet1!$A$2:$A$80</c:f>
              <c:numCache>
                <c:formatCode>General</c:formatCode>
                <c:ptCount val="79"/>
                <c:pt idx="0">
                  <c:v>18</c:v>
                </c:pt>
                <c:pt idx="1">
                  <c:v>174</c:v>
                </c:pt>
                <c:pt idx="2">
                  <c:v>217</c:v>
                </c:pt>
                <c:pt idx="3">
                  <c:v>249</c:v>
                </c:pt>
                <c:pt idx="4">
                  <c:v>291</c:v>
                </c:pt>
                <c:pt idx="5">
                  <c:v>299</c:v>
                </c:pt>
                <c:pt idx="6">
                  <c:v>300</c:v>
                </c:pt>
                <c:pt idx="7">
                  <c:v>300</c:v>
                </c:pt>
                <c:pt idx="8">
                  <c:v>300</c:v>
                </c:pt>
                <c:pt idx="9">
                  <c:v>315</c:v>
                </c:pt>
                <c:pt idx="10">
                  <c:v>316</c:v>
                </c:pt>
                <c:pt idx="11">
                  <c:v>316</c:v>
                </c:pt>
                <c:pt idx="12">
                  <c:v>316</c:v>
                </c:pt>
                <c:pt idx="13">
                  <c:v>316</c:v>
                </c:pt>
                <c:pt idx="14">
                  <c:v>316</c:v>
                </c:pt>
                <c:pt idx="15">
                  <c:v>316</c:v>
                </c:pt>
                <c:pt idx="16">
                  <c:v>316</c:v>
                </c:pt>
                <c:pt idx="17">
                  <c:v>316</c:v>
                </c:pt>
                <c:pt idx="18">
                  <c:v>317</c:v>
                </c:pt>
                <c:pt idx="19">
                  <c:v>317</c:v>
                </c:pt>
                <c:pt idx="20">
                  <c:v>318</c:v>
                </c:pt>
                <c:pt idx="21">
                  <c:v>318</c:v>
                </c:pt>
                <c:pt idx="22">
                  <c:v>318</c:v>
                </c:pt>
                <c:pt idx="23">
                  <c:v>318</c:v>
                </c:pt>
                <c:pt idx="24">
                  <c:v>319</c:v>
                </c:pt>
                <c:pt idx="25">
                  <c:v>319</c:v>
                </c:pt>
                <c:pt idx="26">
                  <c:v>319</c:v>
                </c:pt>
                <c:pt idx="27">
                  <c:v>319</c:v>
                </c:pt>
                <c:pt idx="28">
                  <c:v>319</c:v>
                </c:pt>
                <c:pt idx="29">
                  <c:v>319</c:v>
                </c:pt>
                <c:pt idx="30">
                  <c:v>319</c:v>
                </c:pt>
                <c:pt idx="31">
                  <c:v>319</c:v>
                </c:pt>
                <c:pt idx="32">
                  <c:v>319</c:v>
                </c:pt>
                <c:pt idx="33">
                  <c:v>319</c:v>
                </c:pt>
                <c:pt idx="34">
                  <c:v>319</c:v>
                </c:pt>
                <c:pt idx="35">
                  <c:v>320</c:v>
                </c:pt>
                <c:pt idx="36">
                  <c:v>320</c:v>
                </c:pt>
                <c:pt idx="37">
                  <c:v>320</c:v>
                </c:pt>
                <c:pt idx="38">
                  <c:v>323</c:v>
                </c:pt>
                <c:pt idx="39">
                  <c:v>325</c:v>
                </c:pt>
                <c:pt idx="40">
                  <c:v>326</c:v>
                </c:pt>
                <c:pt idx="41">
                  <c:v>326</c:v>
                </c:pt>
                <c:pt idx="42">
                  <c:v>326</c:v>
                </c:pt>
                <c:pt idx="43">
                  <c:v>326</c:v>
                </c:pt>
                <c:pt idx="44">
                  <c:v>329</c:v>
                </c:pt>
                <c:pt idx="45">
                  <c:v>333</c:v>
                </c:pt>
                <c:pt idx="46">
                  <c:v>333</c:v>
                </c:pt>
                <c:pt idx="47">
                  <c:v>333</c:v>
                </c:pt>
                <c:pt idx="48">
                  <c:v>333</c:v>
                </c:pt>
                <c:pt idx="49">
                  <c:v>333</c:v>
                </c:pt>
                <c:pt idx="50">
                  <c:v>333</c:v>
                </c:pt>
                <c:pt idx="51">
                  <c:v>334</c:v>
                </c:pt>
                <c:pt idx="52">
                  <c:v>334</c:v>
                </c:pt>
                <c:pt idx="53">
                  <c:v>337</c:v>
                </c:pt>
                <c:pt idx="54">
                  <c:v>337</c:v>
                </c:pt>
                <c:pt idx="55">
                  <c:v>338</c:v>
                </c:pt>
                <c:pt idx="56">
                  <c:v>339</c:v>
                </c:pt>
                <c:pt idx="57">
                  <c:v>339</c:v>
                </c:pt>
                <c:pt idx="58">
                  <c:v>339</c:v>
                </c:pt>
                <c:pt idx="59">
                  <c:v>340</c:v>
                </c:pt>
                <c:pt idx="60">
                  <c:v>340</c:v>
                </c:pt>
                <c:pt idx="61">
                  <c:v>340</c:v>
                </c:pt>
                <c:pt idx="62">
                  <c:v>341</c:v>
                </c:pt>
                <c:pt idx="63">
                  <c:v>341</c:v>
                </c:pt>
                <c:pt idx="64">
                  <c:v>341</c:v>
                </c:pt>
                <c:pt idx="65">
                  <c:v>341</c:v>
                </c:pt>
                <c:pt idx="66">
                  <c:v>341</c:v>
                </c:pt>
                <c:pt idx="67">
                  <c:v>342</c:v>
                </c:pt>
                <c:pt idx="68">
                  <c:v>344</c:v>
                </c:pt>
                <c:pt idx="69">
                  <c:v>344</c:v>
                </c:pt>
                <c:pt idx="70">
                  <c:v>344</c:v>
                </c:pt>
                <c:pt idx="71">
                  <c:v>344</c:v>
                </c:pt>
                <c:pt idx="72">
                  <c:v>344</c:v>
                </c:pt>
                <c:pt idx="73">
                  <c:v>345</c:v>
                </c:pt>
                <c:pt idx="74">
                  <c:v>345</c:v>
                </c:pt>
                <c:pt idx="75">
                  <c:v>348</c:v>
                </c:pt>
                <c:pt idx="76">
                  <c:v>349</c:v>
                </c:pt>
                <c:pt idx="77">
                  <c:v>350</c:v>
                </c:pt>
                <c:pt idx="78">
                  <c:v>350</c:v>
                </c:pt>
              </c:numCache>
            </c:numRef>
          </c:xVal>
          <c:yVal>
            <c:numRef>
              <c:f>Sheet1!$B$2:$B$80</c:f>
              <c:numCache>
                <c:formatCode>General</c:formatCode>
                <c:ptCount val="79"/>
                <c:pt idx="0">
                  <c:v/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8</c:v>
                </c:pt>
                <c:pt idx="13">
                  <c:v>8</c:v>
                </c:pt>
                <c:pt idx="14">
                  <c:v>8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8</c:v>
                </c:pt>
                <c:pt idx="19">
                  <c:v/>
                </c:pt>
                <c:pt idx="20">
                  <c:v>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8</c:v>
                </c:pt>
                <c:pt idx="29">
                  <c:v>8</c:v>
                </c:pt>
                <c:pt idx="30">
                  <c:v>8</c:v>
                </c:pt>
                <c:pt idx="31">
                  <c:v>8</c:v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8</c:v>
                </c:pt>
                <c:pt idx="37">
                  <c:v>8</c:v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8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8</c:v>
                </c:pt>
                <c:pt idx="49">
                  <c:v>8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8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8</c:v>
                </c:pt>
                <c:pt idx="60">
                  <c:v>8</c:v>
                </c:pt>
                <c:pt idx="61">
                  <c:v/>
                </c:pt>
                <c:pt idx="62">
                  <c:v>8</c:v>
                </c:pt>
                <c:pt idx="63">
                  <c:v>8</c:v>
                </c:pt>
                <c:pt idx="64">
                  <c:v>8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8</c:v>
                </c:pt>
                <c:pt idx="70">
                  <c:v>8</c:v>
                </c:pt>
                <c:pt idx="71">
                  <c:v>8</c:v>
                </c:pt>
                <c:pt idx="72">
                  <c:v/>
                </c:pt>
                <c:pt idx="73">
                  <c:v/>
                </c:pt>
                <c:pt idx="74">
                  <c:v>8</c:v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</c:numCache>
            </c:numRef>
          </c:yVal>
          <c:bubbleSize>
            <c:numRef>
              <c:f>Sheet1!$C$2:$C$80</c:f>
              <c:numCache>
                <c:formatCode>General</c:formatCode>
                <c:ptCount val="79"/>
                <c:pt idx="0">
                  <c:v/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4</c:v>
                </c:pt>
                <c:pt idx="13">
                  <c:v>2.5</c:v>
                </c:pt>
                <c:pt idx="14">
                  <c:v>2.5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2.5</c:v>
                </c:pt>
                <c:pt idx="19">
                  <c:v/>
                </c:pt>
                <c:pt idx="20">
                  <c:v>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4</c:v>
                </c:pt>
                <c:pt idx="29">
                  <c:v>4</c:v>
                </c:pt>
                <c:pt idx="30">
                  <c:v>2.5</c:v>
                </c:pt>
                <c:pt idx="31">
                  <c:v>2.5</c:v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2.5</c:v>
                </c:pt>
                <c:pt idx="37">
                  <c:v>2.5</c:v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4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2.5</c:v>
                </c:pt>
                <c:pt idx="49">
                  <c:v>2.5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2.5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2.5</c:v>
                </c:pt>
                <c:pt idx="60">
                  <c:v>2.5</c:v>
                </c:pt>
                <c:pt idx="61">
                  <c:v/>
                </c:pt>
                <c:pt idx="62">
                  <c:v>2.5</c:v>
                </c:pt>
                <c:pt idx="63">
                  <c:v>2.5</c:v>
                </c:pt>
                <c:pt idx="64">
                  <c:v>2.5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4</c:v>
                </c:pt>
                <c:pt idx="70">
                  <c:v>4</c:v>
                </c:pt>
                <c:pt idx="71">
                  <c:v>2.5</c:v>
                </c:pt>
                <c:pt idx="72">
                  <c:v/>
                </c:pt>
                <c:pt idx="73">
                  <c:v/>
                </c:pt>
                <c:pt idx="74">
                  <c:v>4</c:v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Leadership &amp; GTC</c:v>
                </c:pt>
              </c:strCache>
            </c:strRef>
          </c:tx>
          <c:spPr>
            <a:solidFill>
              <a:srgbClr val="CADCFC">
                <a:alpha val="70000"/>
              </a:srgbClr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xVal>
            <c:numRef>
              <c:f>Sheet1!$A$2:$A$80</c:f>
              <c:numCache>
                <c:formatCode>General</c:formatCode>
                <c:ptCount val="79"/>
                <c:pt idx="0">
                  <c:v>18</c:v>
                </c:pt>
                <c:pt idx="1">
                  <c:v>174</c:v>
                </c:pt>
                <c:pt idx="2">
                  <c:v>217</c:v>
                </c:pt>
                <c:pt idx="3">
                  <c:v>249</c:v>
                </c:pt>
                <c:pt idx="4">
                  <c:v>291</c:v>
                </c:pt>
                <c:pt idx="5">
                  <c:v>299</c:v>
                </c:pt>
                <c:pt idx="6">
                  <c:v>300</c:v>
                </c:pt>
                <c:pt idx="7">
                  <c:v>300</c:v>
                </c:pt>
                <c:pt idx="8">
                  <c:v>300</c:v>
                </c:pt>
                <c:pt idx="9">
                  <c:v>315</c:v>
                </c:pt>
                <c:pt idx="10">
                  <c:v>316</c:v>
                </c:pt>
                <c:pt idx="11">
                  <c:v>316</c:v>
                </c:pt>
                <c:pt idx="12">
                  <c:v>316</c:v>
                </c:pt>
                <c:pt idx="13">
                  <c:v>316</c:v>
                </c:pt>
                <c:pt idx="14">
                  <c:v>316</c:v>
                </c:pt>
                <c:pt idx="15">
                  <c:v>316</c:v>
                </c:pt>
                <c:pt idx="16">
                  <c:v>316</c:v>
                </c:pt>
                <c:pt idx="17">
                  <c:v>316</c:v>
                </c:pt>
                <c:pt idx="18">
                  <c:v>317</c:v>
                </c:pt>
                <c:pt idx="19">
                  <c:v>317</c:v>
                </c:pt>
                <c:pt idx="20">
                  <c:v>318</c:v>
                </c:pt>
                <c:pt idx="21">
                  <c:v>318</c:v>
                </c:pt>
                <c:pt idx="22">
                  <c:v>318</c:v>
                </c:pt>
                <c:pt idx="23">
                  <c:v>318</c:v>
                </c:pt>
                <c:pt idx="24">
                  <c:v>319</c:v>
                </c:pt>
                <c:pt idx="25">
                  <c:v>319</c:v>
                </c:pt>
                <c:pt idx="26">
                  <c:v>319</c:v>
                </c:pt>
                <c:pt idx="27">
                  <c:v>319</c:v>
                </c:pt>
                <c:pt idx="28">
                  <c:v>319</c:v>
                </c:pt>
                <c:pt idx="29">
                  <c:v>319</c:v>
                </c:pt>
                <c:pt idx="30">
                  <c:v>319</c:v>
                </c:pt>
                <c:pt idx="31">
                  <c:v>319</c:v>
                </c:pt>
                <c:pt idx="32">
                  <c:v>319</c:v>
                </c:pt>
                <c:pt idx="33">
                  <c:v>319</c:v>
                </c:pt>
                <c:pt idx="34">
                  <c:v>319</c:v>
                </c:pt>
                <c:pt idx="35">
                  <c:v>320</c:v>
                </c:pt>
                <c:pt idx="36">
                  <c:v>320</c:v>
                </c:pt>
                <c:pt idx="37">
                  <c:v>320</c:v>
                </c:pt>
                <c:pt idx="38">
                  <c:v>323</c:v>
                </c:pt>
                <c:pt idx="39">
                  <c:v>325</c:v>
                </c:pt>
                <c:pt idx="40">
                  <c:v>326</c:v>
                </c:pt>
                <c:pt idx="41">
                  <c:v>326</c:v>
                </c:pt>
                <c:pt idx="42">
                  <c:v>326</c:v>
                </c:pt>
                <c:pt idx="43">
                  <c:v>326</c:v>
                </c:pt>
                <c:pt idx="44">
                  <c:v>329</c:v>
                </c:pt>
                <c:pt idx="45">
                  <c:v>333</c:v>
                </c:pt>
                <c:pt idx="46">
                  <c:v>333</c:v>
                </c:pt>
                <c:pt idx="47">
                  <c:v>333</c:v>
                </c:pt>
                <c:pt idx="48">
                  <c:v>333</c:v>
                </c:pt>
                <c:pt idx="49">
                  <c:v>333</c:v>
                </c:pt>
                <c:pt idx="50">
                  <c:v>333</c:v>
                </c:pt>
                <c:pt idx="51">
                  <c:v>334</c:v>
                </c:pt>
                <c:pt idx="52">
                  <c:v>334</c:v>
                </c:pt>
                <c:pt idx="53">
                  <c:v>337</c:v>
                </c:pt>
                <c:pt idx="54">
                  <c:v>337</c:v>
                </c:pt>
                <c:pt idx="55">
                  <c:v>338</c:v>
                </c:pt>
                <c:pt idx="56">
                  <c:v>339</c:v>
                </c:pt>
                <c:pt idx="57">
                  <c:v>339</c:v>
                </c:pt>
                <c:pt idx="58">
                  <c:v>339</c:v>
                </c:pt>
                <c:pt idx="59">
                  <c:v>340</c:v>
                </c:pt>
                <c:pt idx="60">
                  <c:v>340</c:v>
                </c:pt>
                <c:pt idx="61">
                  <c:v>340</c:v>
                </c:pt>
                <c:pt idx="62">
                  <c:v>341</c:v>
                </c:pt>
                <c:pt idx="63">
                  <c:v>341</c:v>
                </c:pt>
                <c:pt idx="64">
                  <c:v>341</c:v>
                </c:pt>
                <c:pt idx="65">
                  <c:v>341</c:v>
                </c:pt>
                <c:pt idx="66">
                  <c:v>341</c:v>
                </c:pt>
                <c:pt idx="67">
                  <c:v>342</c:v>
                </c:pt>
                <c:pt idx="68">
                  <c:v>344</c:v>
                </c:pt>
                <c:pt idx="69">
                  <c:v>344</c:v>
                </c:pt>
                <c:pt idx="70">
                  <c:v>344</c:v>
                </c:pt>
                <c:pt idx="71">
                  <c:v>344</c:v>
                </c:pt>
                <c:pt idx="72">
                  <c:v>344</c:v>
                </c:pt>
                <c:pt idx="73">
                  <c:v>345</c:v>
                </c:pt>
                <c:pt idx="74">
                  <c:v>345</c:v>
                </c:pt>
                <c:pt idx="75">
                  <c:v>348</c:v>
                </c:pt>
                <c:pt idx="76">
                  <c:v>349</c:v>
                </c:pt>
                <c:pt idx="77">
                  <c:v>350</c:v>
                </c:pt>
                <c:pt idx="78">
                  <c:v>350</c:v>
                </c:pt>
              </c:numCache>
            </c:numRef>
          </c:xVal>
          <c:yVal>
            <c:numRef>
              <c:f>Sheet1!$D$2:$D$80</c:f>
              <c:numCache>
                <c:formatCode>General</c:formatCode>
                <c:ptCount val="7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7</c:v>
                </c:pt>
                <c:pt idx="25">
                  <c:v>7</c:v>
                </c:pt>
                <c:pt idx="26">
                  <c:v>7</c:v>
                </c:pt>
                <c:pt idx="27">
                  <c:v>7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7</c:v>
                </c:pt>
                <c:pt idx="36">
                  <c:v/>
                </c:pt>
                <c:pt idx="37">
                  <c:v/>
                </c:pt>
                <c:pt idx="38">
                  <c:v>7</c:v>
                </c:pt>
                <c:pt idx="39">
                  <c:v/>
                </c:pt>
                <c:pt idx="40">
                  <c:v>7</c:v>
                </c:pt>
                <c:pt idx="41">
                  <c:v>7</c:v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7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7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7</c:v>
                </c:pt>
                <c:pt idx="78">
                  <c:v/>
                </c:pt>
              </c:numCache>
            </c:numRef>
          </c:yVal>
          <c:bubbleSize>
            <c:numRef>
              <c:f>Sheet1!$E$2:$E$80</c:f>
              <c:numCache>
                <c:formatCode>General</c:formatCode>
                <c:ptCount val="7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2.5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2.5</c:v>
                </c:pt>
                <c:pt idx="25">
                  <c:v>2.5</c:v>
                </c:pt>
                <c:pt idx="26">
                  <c:v>2.5</c:v>
                </c:pt>
                <c:pt idx="27">
                  <c:v>2.5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4</c:v>
                </c:pt>
                <c:pt idx="36">
                  <c:v/>
                </c:pt>
                <c:pt idx="37">
                  <c:v/>
                </c:pt>
                <c:pt idx="38">
                  <c:v>2.5</c:v>
                </c:pt>
                <c:pt idx="39">
                  <c:v/>
                </c:pt>
                <c:pt idx="40">
                  <c:v>4</c:v>
                </c:pt>
                <c:pt idx="41">
                  <c:v>2.5</c:v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2.5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4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6</c:v>
                </c:pt>
                <c:pt idx="78">
                  <c:v/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Earnings &amp; Market</c:v>
                </c:pt>
              </c:strCache>
            </c:strRef>
          </c:tx>
          <c:spPr>
            <a:solidFill>
              <a:srgbClr val="7FB069">
                <a:alpha val="70000"/>
              </a:srgbClr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xVal>
            <c:numRef>
              <c:f>Sheet1!$A$2:$A$80</c:f>
              <c:numCache>
                <c:formatCode>General</c:formatCode>
                <c:ptCount val="79"/>
                <c:pt idx="0">
                  <c:v>18</c:v>
                </c:pt>
                <c:pt idx="1">
                  <c:v>174</c:v>
                </c:pt>
                <c:pt idx="2">
                  <c:v>217</c:v>
                </c:pt>
                <c:pt idx="3">
                  <c:v>249</c:v>
                </c:pt>
                <c:pt idx="4">
                  <c:v>291</c:v>
                </c:pt>
                <c:pt idx="5">
                  <c:v>299</c:v>
                </c:pt>
                <c:pt idx="6">
                  <c:v>300</c:v>
                </c:pt>
                <c:pt idx="7">
                  <c:v>300</c:v>
                </c:pt>
                <c:pt idx="8">
                  <c:v>300</c:v>
                </c:pt>
                <c:pt idx="9">
                  <c:v>315</c:v>
                </c:pt>
                <c:pt idx="10">
                  <c:v>316</c:v>
                </c:pt>
                <c:pt idx="11">
                  <c:v>316</c:v>
                </c:pt>
                <c:pt idx="12">
                  <c:v>316</c:v>
                </c:pt>
                <c:pt idx="13">
                  <c:v>316</c:v>
                </c:pt>
                <c:pt idx="14">
                  <c:v>316</c:v>
                </c:pt>
                <c:pt idx="15">
                  <c:v>316</c:v>
                </c:pt>
                <c:pt idx="16">
                  <c:v>316</c:v>
                </c:pt>
                <c:pt idx="17">
                  <c:v>316</c:v>
                </c:pt>
                <c:pt idx="18">
                  <c:v>317</c:v>
                </c:pt>
                <c:pt idx="19">
                  <c:v>317</c:v>
                </c:pt>
                <c:pt idx="20">
                  <c:v>318</c:v>
                </c:pt>
                <c:pt idx="21">
                  <c:v>318</c:v>
                </c:pt>
                <c:pt idx="22">
                  <c:v>318</c:v>
                </c:pt>
                <c:pt idx="23">
                  <c:v>318</c:v>
                </c:pt>
                <c:pt idx="24">
                  <c:v>319</c:v>
                </c:pt>
                <c:pt idx="25">
                  <c:v>319</c:v>
                </c:pt>
                <c:pt idx="26">
                  <c:v>319</c:v>
                </c:pt>
                <c:pt idx="27">
                  <c:v>319</c:v>
                </c:pt>
                <c:pt idx="28">
                  <c:v>319</c:v>
                </c:pt>
                <c:pt idx="29">
                  <c:v>319</c:v>
                </c:pt>
                <c:pt idx="30">
                  <c:v>319</c:v>
                </c:pt>
                <c:pt idx="31">
                  <c:v>319</c:v>
                </c:pt>
                <c:pt idx="32">
                  <c:v>319</c:v>
                </c:pt>
                <c:pt idx="33">
                  <c:v>319</c:v>
                </c:pt>
                <c:pt idx="34">
                  <c:v>319</c:v>
                </c:pt>
                <c:pt idx="35">
                  <c:v>320</c:v>
                </c:pt>
                <c:pt idx="36">
                  <c:v>320</c:v>
                </c:pt>
                <c:pt idx="37">
                  <c:v>320</c:v>
                </c:pt>
                <c:pt idx="38">
                  <c:v>323</c:v>
                </c:pt>
                <c:pt idx="39">
                  <c:v>325</c:v>
                </c:pt>
                <c:pt idx="40">
                  <c:v>326</c:v>
                </c:pt>
                <c:pt idx="41">
                  <c:v>326</c:v>
                </c:pt>
                <c:pt idx="42">
                  <c:v>326</c:v>
                </c:pt>
                <c:pt idx="43">
                  <c:v>326</c:v>
                </c:pt>
                <c:pt idx="44">
                  <c:v>329</c:v>
                </c:pt>
                <c:pt idx="45">
                  <c:v>333</c:v>
                </c:pt>
                <c:pt idx="46">
                  <c:v>333</c:v>
                </c:pt>
                <c:pt idx="47">
                  <c:v>333</c:v>
                </c:pt>
                <c:pt idx="48">
                  <c:v>333</c:v>
                </c:pt>
                <c:pt idx="49">
                  <c:v>333</c:v>
                </c:pt>
                <c:pt idx="50">
                  <c:v>333</c:v>
                </c:pt>
                <c:pt idx="51">
                  <c:v>334</c:v>
                </c:pt>
                <c:pt idx="52">
                  <c:v>334</c:v>
                </c:pt>
                <c:pt idx="53">
                  <c:v>337</c:v>
                </c:pt>
                <c:pt idx="54">
                  <c:v>337</c:v>
                </c:pt>
                <c:pt idx="55">
                  <c:v>338</c:v>
                </c:pt>
                <c:pt idx="56">
                  <c:v>339</c:v>
                </c:pt>
                <c:pt idx="57">
                  <c:v>339</c:v>
                </c:pt>
                <c:pt idx="58">
                  <c:v>339</c:v>
                </c:pt>
                <c:pt idx="59">
                  <c:v>340</c:v>
                </c:pt>
                <c:pt idx="60">
                  <c:v>340</c:v>
                </c:pt>
                <c:pt idx="61">
                  <c:v>340</c:v>
                </c:pt>
                <c:pt idx="62">
                  <c:v>341</c:v>
                </c:pt>
                <c:pt idx="63">
                  <c:v>341</c:v>
                </c:pt>
                <c:pt idx="64">
                  <c:v>341</c:v>
                </c:pt>
                <c:pt idx="65">
                  <c:v>341</c:v>
                </c:pt>
                <c:pt idx="66">
                  <c:v>341</c:v>
                </c:pt>
                <c:pt idx="67">
                  <c:v>342</c:v>
                </c:pt>
                <c:pt idx="68">
                  <c:v>344</c:v>
                </c:pt>
                <c:pt idx="69">
                  <c:v>344</c:v>
                </c:pt>
                <c:pt idx="70">
                  <c:v>344</c:v>
                </c:pt>
                <c:pt idx="71">
                  <c:v>344</c:v>
                </c:pt>
                <c:pt idx="72">
                  <c:v>344</c:v>
                </c:pt>
                <c:pt idx="73">
                  <c:v>345</c:v>
                </c:pt>
                <c:pt idx="74">
                  <c:v>345</c:v>
                </c:pt>
                <c:pt idx="75">
                  <c:v>348</c:v>
                </c:pt>
                <c:pt idx="76">
                  <c:v>349</c:v>
                </c:pt>
                <c:pt idx="77">
                  <c:v>350</c:v>
                </c:pt>
                <c:pt idx="78">
                  <c:v>350</c:v>
                </c:pt>
              </c:numCache>
            </c:numRef>
          </c:xVal>
          <c:yVal>
            <c:numRef>
              <c:f>Sheet1!$F$2:$F$80</c:f>
              <c:numCache>
                <c:formatCode>General</c:formatCode>
                <c:ptCount val="7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6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6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>6</c:v>
                </c:pt>
                <c:pt idx="47">
                  <c:v>6</c:v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>6</c:v>
                </c:pt>
                <c:pt idx="54">
                  <c:v>6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>6</c:v>
                </c:pt>
                <c:pt idx="68">
                  <c:v>6</c:v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>6</c:v>
                </c:pt>
                <c:pt idx="74">
                  <c:v/>
                </c:pt>
                <c:pt idx="75">
                  <c:v>6</c:v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</c:numCache>
            </c:numRef>
          </c:yVal>
          <c:bubbleSize>
            <c:numRef>
              <c:f>Sheet1!$G$2:$G$80</c:f>
              <c:numCache>
                <c:formatCode>General</c:formatCode>
                <c:ptCount val="7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2.5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2.5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>4</c:v>
                </c:pt>
                <c:pt idx="47">
                  <c:v>2.5</c:v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>4</c:v>
                </c:pt>
                <c:pt idx="54">
                  <c:v>2.5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>4</c:v>
                </c:pt>
                <c:pt idx="68">
                  <c:v>2.5</c:v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>2.5</c:v>
                </c:pt>
                <c:pt idx="74">
                  <c:v/>
                </c:pt>
                <c:pt idx="75">
                  <c:v>4</c:v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f>Sheet1!$H$1</c:f>
              <c:strCache>
                <c:ptCount val="1"/>
                <c:pt idx="0">
                  <c:v>Strategic Deals</c:v>
                </c:pt>
              </c:strCache>
            </c:strRef>
          </c:tx>
          <c:spPr>
            <a:solidFill>
              <a:srgbClr val="E07A5F">
                <a:alpha val="70000"/>
              </a:srgbClr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xVal>
            <c:numRef>
              <c:f>Sheet1!$A$2:$A$80</c:f>
              <c:numCache>
                <c:formatCode>General</c:formatCode>
                <c:ptCount val="79"/>
                <c:pt idx="0">
                  <c:v>18</c:v>
                </c:pt>
                <c:pt idx="1">
                  <c:v>174</c:v>
                </c:pt>
                <c:pt idx="2">
                  <c:v>217</c:v>
                </c:pt>
                <c:pt idx="3">
                  <c:v>249</c:v>
                </c:pt>
                <c:pt idx="4">
                  <c:v>291</c:v>
                </c:pt>
                <c:pt idx="5">
                  <c:v>299</c:v>
                </c:pt>
                <c:pt idx="6">
                  <c:v>300</c:v>
                </c:pt>
                <c:pt idx="7">
                  <c:v>300</c:v>
                </c:pt>
                <c:pt idx="8">
                  <c:v>300</c:v>
                </c:pt>
                <c:pt idx="9">
                  <c:v>315</c:v>
                </c:pt>
                <c:pt idx="10">
                  <c:v>316</c:v>
                </c:pt>
                <c:pt idx="11">
                  <c:v>316</c:v>
                </c:pt>
                <c:pt idx="12">
                  <c:v>316</c:v>
                </c:pt>
                <c:pt idx="13">
                  <c:v>316</c:v>
                </c:pt>
                <c:pt idx="14">
                  <c:v>316</c:v>
                </c:pt>
                <c:pt idx="15">
                  <c:v>316</c:v>
                </c:pt>
                <c:pt idx="16">
                  <c:v>316</c:v>
                </c:pt>
                <c:pt idx="17">
                  <c:v>316</c:v>
                </c:pt>
                <c:pt idx="18">
                  <c:v>317</c:v>
                </c:pt>
                <c:pt idx="19">
                  <c:v>317</c:v>
                </c:pt>
                <c:pt idx="20">
                  <c:v>318</c:v>
                </c:pt>
                <c:pt idx="21">
                  <c:v>318</c:v>
                </c:pt>
                <c:pt idx="22">
                  <c:v>318</c:v>
                </c:pt>
                <c:pt idx="23">
                  <c:v>318</c:v>
                </c:pt>
                <c:pt idx="24">
                  <c:v>319</c:v>
                </c:pt>
                <c:pt idx="25">
                  <c:v>319</c:v>
                </c:pt>
                <c:pt idx="26">
                  <c:v>319</c:v>
                </c:pt>
                <c:pt idx="27">
                  <c:v>319</c:v>
                </c:pt>
                <c:pt idx="28">
                  <c:v>319</c:v>
                </c:pt>
                <c:pt idx="29">
                  <c:v>319</c:v>
                </c:pt>
                <c:pt idx="30">
                  <c:v>319</c:v>
                </c:pt>
                <c:pt idx="31">
                  <c:v>319</c:v>
                </c:pt>
                <c:pt idx="32">
                  <c:v>319</c:v>
                </c:pt>
                <c:pt idx="33">
                  <c:v>319</c:v>
                </c:pt>
                <c:pt idx="34">
                  <c:v>319</c:v>
                </c:pt>
                <c:pt idx="35">
                  <c:v>320</c:v>
                </c:pt>
                <c:pt idx="36">
                  <c:v>320</c:v>
                </c:pt>
                <c:pt idx="37">
                  <c:v>320</c:v>
                </c:pt>
                <c:pt idx="38">
                  <c:v>323</c:v>
                </c:pt>
                <c:pt idx="39">
                  <c:v>325</c:v>
                </c:pt>
                <c:pt idx="40">
                  <c:v>326</c:v>
                </c:pt>
                <c:pt idx="41">
                  <c:v>326</c:v>
                </c:pt>
                <c:pt idx="42">
                  <c:v>326</c:v>
                </c:pt>
                <c:pt idx="43">
                  <c:v>326</c:v>
                </c:pt>
                <c:pt idx="44">
                  <c:v>329</c:v>
                </c:pt>
                <c:pt idx="45">
                  <c:v>333</c:v>
                </c:pt>
                <c:pt idx="46">
                  <c:v>333</c:v>
                </c:pt>
                <c:pt idx="47">
                  <c:v>333</c:v>
                </c:pt>
                <c:pt idx="48">
                  <c:v>333</c:v>
                </c:pt>
                <c:pt idx="49">
                  <c:v>333</c:v>
                </c:pt>
                <c:pt idx="50">
                  <c:v>333</c:v>
                </c:pt>
                <c:pt idx="51">
                  <c:v>334</c:v>
                </c:pt>
                <c:pt idx="52">
                  <c:v>334</c:v>
                </c:pt>
                <c:pt idx="53">
                  <c:v>337</c:v>
                </c:pt>
                <c:pt idx="54">
                  <c:v>337</c:v>
                </c:pt>
                <c:pt idx="55">
                  <c:v>338</c:v>
                </c:pt>
                <c:pt idx="56">
                  <c:v>339</c:v>
                </c:pt>
                <c:pt idx="57">
                  <c:v>339</c:v>
                </c:pt>
                <c:pt idx="58">
                  <c:v>339</c:v>
                </c:pt>
                <c:pt idx="59">
                  <c:v>340</c:v>
                </c:pt>
                <c:pt idx="60">
                  <c:v>340</c:v>
                </c:pt>
                <c:pt idx="61">
                  <c:v>340</c:v>
                </c:pt>
                <c:pt idx="62">
                  <c:v>341</c:v>
                </c:pt>
                <c:pt idx="63">
                  <c:v>341</c:v>
                </c:pt>
                <c:pt idx="64">
                  <c:v>341</c:v>
                </c:pt>
                <c:pt idx="65">
                  <c:v>341</c:v>
                </c:pt>
                <c:pt idx="66">
                  <c:v>341</c:v>
                </c:pt>
                <c:pt idx="67">
                  <c:v>342</c:v>
                </c:pt>
                <c:pt idx="68">
                  <c:v>344</c:v>
                </c:pt>
                <c:pt idx="69">
                  <c:v>344</c:v>
                </c:pt>
                <c:pt idx="70">
                  <c:v>344</c:v>
                </c:pt>
                <c:pt idx="71">
                  <c:v>344</c:v>
                </c:pt>
                <c:pt idx="72">
                  <c:v>344</c:v>
                </c:pt>
                <c:pt idx="73">
                  <c:v>345</c:v>
                </c:pt>
                <c:pt idx="74">
                  <c:v>345</c:v>
                </c:pt>
                <c:pt idx="75">
                  <c:v>348</c:v>
                </c:pt>
                <c:pt idx="76">
                  <c:v>349</c:v>
                </c:pt>
                <c:pt idx="77">
                  <c:v>350</c:v>
                </c:pt>
                <c:pt idx="78">
                  <c:v>350</c:v>
                </c:pt>
              </c:numCache>
            </c:numRef>
          </c:xVal>
          <c:yVal>
            <c:numRef>
              <c:f>Sheet1!$H$2:$H$80</c:f>
              <c:numCache>
                <c:formatCode>General</c:formatCode>
                <c:ptCount val="7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5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5</c:v>
                </c:pt>
                <c:pt idx="20">
                  <c:v/>
                </c:pt>
                <c:pt idx="21">
                  <c:v>5</c:v>
                </c:pt>
                <c:pt idx="22">
                  <c:v>5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>5</c:v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>5</c:v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>5</c:v>
                </c:pt>
                <c:pt idx="66">
                  <c:v>5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</c:numCache>
            </c:numRef>
          </c:yVal>
          <c:bubbleSize>
            <c:numRef>
              <c:f>Sheet1!$I$2:$I$80</c:f>
              <c:numCache>
                <c:formatCode>General</c:formatCode>
                <c:ptCount val="7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4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2.5</c:v>
                </c:pt>
                <c:pt idx="20">
                  <c:v/>
                </c:pt>
                <c:pt idx="21">
                  <c:v>4</c:v>
                </c:pt>
                <c:pt idx="22">
                  <c:v>2.5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>2.5</c:v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>2.5</c:v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>4</c:v>
                </c:pt>
                <c:pt idx="66">
                  <c:v>2.5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</c:numCache>
            </c:numRef>
          </c:bubbleSize>
          <c:bubble3D val="0"/>
        </c:ser>
        <c:ser>
          <c:idx val="4"/>
          <c:order val="4"/>
          <c:tx>
            <c:strRef>
              <c:f>Sheet1!$J$1</c:f>
              <c:strCache>
                <c:ptCount val="1"/>
                <c:pt idx="0">
                  <c:v>Software &amp; CUDA</c:v>
                </c:pt>
              </c:strCache>
            </c:strRef>
          </c:tx>
          <c:spPr>
            <a:solidFill>
              <a:srgbClr val="8884D8">
                <a:alpha val="70000"/>
              </a:srgbClr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xVal>
            <c:numRef>
              <c:f>Sheet1!$A$2:$A$80</c:f>
              <c:numCache>
                <c:formatCode>General</c:formatCode>
                <c:ptCount val="79"/>
                <c:pt idx="0">
                  <c:v>18</c:v>
                </c:pt>
                <c:pt idx="1">
                  <c:v>174</c:v>
                </c:pt>
                <c:pt idx="2">
                  <c:v>217</c:v>
                </c:pt>
                <c:pt idx="3">
                  <c:v>249</c:v>
                </c:pt>
                <c:pt idx="4">
                  <c:v>291</c:v>
                </c:pt>
                <c:pt idx="5">
                  <c:v>299</c:v>
                </c:pt>
                <c:pt idx="6">
                  <c:v>300</c:v>
                </c:pt>
                <c:pt idx="7">
                  <c:v>300</c:v>
                </c:pt>
                <c:pt idx="8">
                  <c:v>300</c:v>
                </c:pt>
                <c:pt idx="9">
                  <c:v>315</c:v>
                </c:pt>
                <c:pt idx="10">
                  <c:v>316</c:v>
                </c:pt>
                <c:pt idx="11">
                  <c:v>316</c:v>
                </c:pt>
                <c:pt idx="12">
                  <c:v>316</c:v>
                </c:pt>
                <c:pt idx="13">
                  <c:v>316</c:v>
                </c:pt>
                <c:pt idx="14">
                  <c:v>316</c:v>
                </c:pt>
                <c:pt idx="15">
                  <c:v>316</c:v>
                </c:pt>
                <c:pt idx="16">
                  <c:v>316</c:v>
                </c:pt>
                <c:pt idx="17">
                  <c:v>316</c:v>
                </c:pt>
                <c:pt idx="18">
                  <c:v>317</c:v>
                </c:pt>
                <c:pt idx="19">
                  <c:v>317</c:v>
                </c:pt>
                <c:pt idx="20">
                  <c:v>318</c:v>
                </c:pt>
                <c:pt idx="21">
                  <c:v>318</c:v>
                </c:pt>
                <c:pt idx="22">
                  <c:v>318</c:v>
                </c:pt>
                <c:pt idx="23">
                  <c:v>318</c:v>
                </c:pt>
                <c:pt idx="24">
                  <c:v>319</c:v>
                </c:pt>
                <c:pt idx="25">
                  <c:v>319</c:v>
                </c:pt>
                <c:pt idx="26">
                  <c:v>319</c:v>
                </c:pt>
                <c:pt idx="27">
                  <c:v>319</c:v>
                </c:pt>
                <c:pt idx="28">
                  <c:v>319</c:v>
                </c:pt>
                <c:pt idx="29">
                  <c:v>319</c:v>
                </c:pt>
                <c:pt idx="30">
                  <c:v>319</c:v>
                </c:pt>
                <c:pt idx="31">
                  <c:v>319</c:v>
                </c:pt>
                <c:pt idx="32">
                  <c:v>319</c:v>
                </c:pt>
                <c:pt idx="33">
                  <c:v>319</c:v>
                </c:pt>
                <c:pt idx="34">
                  <c:v>319</c:v>
                </c:pt>
                <c:pt idx="35">
                  <c:v>320</c:v>
                </c:pt>
                <c:pt idx="36">
                  <c:v>320</c:v>
                </c:pt>
                <c:pt idx="37">
                  <c:v>320</c:v>
                </c:pt>
                <c:pt idx="38">
                  <c:v>323</c:v>
                </c:pt>
                <c:pt idx="39">
                  <c:v>325</c:v>
                </c:pt>
                <c:pt idx="40">
                  <c:v>326</c:v>
                </c:pt>
                <c:pt idx="41">
                  <c:v>326</c:v>
                </c:pt>
                <c:pt idx="42">
                  <c:v>326</c:v>
                </c:pt>
                <c:pt idx="43">
                  <c:v>326</c:v>
                </c:pt>
                <c:pt idx="44">
                  <c:v>329</c:v>
                </c:pt>
                <c:pt idx="45">
                  <c:v>333</c:v>
                </c:pt>
                <c:pt idx="46">
                  <c:v>333</c:v>
                </c:pt>
                <c:pt idx="47">
                  <c:v>333</c:v>
                </c:pt>
                <c:pt idx="48">
                  <c:v>333</c:v>
                </c:pt>
                <c:pt idx="49">
                  <c:v>333</c:v>
                </c:pt>
                <c:pt idx="50">
                  <c:v>333</c:v>
                </c:pt>
                <c:pt idx="51">
                  <c:v>334</c:v>
                </c:pt>
                <c:pt idx="52">
                  <c:v>334</c:v>
                </c:pt>
                <c:pt idx="53">
                  <c:v>337</c:v>
                </c:pt>
                <c:pt idx="54">
                  <c:v>337</c:v>
                </c:pt>
                <c:pt idx="55">
                  <c:v>338</c:v>
                </c:pt>
                <c:pt idx="56">
                  <c:v>339</c:v>
                </c:pt>
                <c:pt idx="57">
                  <c:v>339</c:v>
                </c:pt>
                <c:pt idx="58">
                  <c:v>339</c:v>
                </c:pt>
                <c:pt idx="59">
                  <c:v>340</c:v>
                </c:pt>
                <c:pt idx="60">
                  <c:v>340</c:v>
                </c:pt>
                <c:pt idx="61">
                  <c:v>340</c:v>
                </c:pt>
                <c:pt idx="62">
                  <c:v>341</c:v>
                </c:pt>
                <c:pt idx="63">
                  <c:v>341</c:v>
                </c:pt>
                <c:pt idx="64">
                  <c:v>341</c:v>
                </c:pt>
                <c:pt idx="65">
                  <c:v>341</c:v>
                </c:pt>
                <c:pt idx="66">
                  <c:v>341</c:v>
                </c:pt>
                <c:pt idx="67">
                  <c:v>342</c:v>
                </c:pt>
                <c:pt idx="68">
                  <c:v>344</c:v>
                </c:pt>
                <c:pt idx="69">
                  <c:v>344</c:v>
                </c:pt>
                <c:pt idx="70">
                  <c:v>344</c:v>
                </c:pt>
                <c:pt idx="71">
                  <c:v>344</c:v>
                </c:pt>
                <c:pt idx="72">
                  <c:v>344</c:v>
                </c:pt>
                <c:pt idx="73">
                  <c:v>345</c:v>
                </c:pt>
                <c:pt idx="74">
                  <c:v>345</c:v>
                </c:pt>
                <c:pt idx="75">
                  <c:v>348</c:v>
                </c:pt>
                <c:pt idx="76">
                  <c:v>349</c:v>
                </c:pt>
                <c:pt idx="77">
                  <c:v>350</c:v>
                </c:pt>
                <c:pt idx="78">
                  <c:v>350</c:v>
                </c:pt>
              </c:numCache>
            </c:numRef>
          </c:xVal>
          <c:yVal>
            <c:numRef>
              <c:f>Sheet1!$J$2:$J$80</c:f>
              <c:numCache>
                <c:formatCode>General</c:formatCode>
                <c:ptCount val="7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4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4</c:v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4</c:v>
                </c:pt>
                <c:pt idx="33">
                  <c:v>4</c:v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4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>4</c:v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4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</c:numCache>
            </c:numRef>
          </c:yVal>
          <c:bubbleSize>
            <c:numRef>
              <c:f>Sheet1!$K$2:$K$80</c:f>
              <c:numCache>
                <c:formatCode>General</c:formatCode>
                <c:ptCount val="7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4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2.5</c:v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2.5</c:v>
                </c:pt>
                <c:pt idx="33">
                  <c:v>2.5</c:v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4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>2.5</c:v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2.5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</c:numCache>
            </c:numRef>
          </c:bubbleSize>
          <c:bubble3D val="0"/>
        </c:ser>
        <c:ser>
          <c:idx val="5"/>
          <c:order val="5"/>
          <c:tx>
            <c:strRef>
              <c:f>Sheet1!$L$1</c:f>
              <c:strCache>
                <c:ptCount val="1"/>
                <c:pt idx="0">
                  <c:v>Geopolitics</c:v>
                </c:pt>
              </c:strCache>
            </c:strRef>
          </c:tx>
          <c:spPr>
            <a:solidFill>
              <a:srgbClr val="C0352E">
                <a:alpha val="70000"/>
              </a:srgbClr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xVal>
            <c:numRef>
              <c:f>Sheet1!$A$2:$A$80</c:f>
              <c:numCache>
                <c:formatCode>General</c:formatCode>
                <c:ptCount val="79"/>
                <c:pt idx="0">
                  <c:v>18</c:v>
                </c:pt>
                <c:pt idx="1">
                  <c:v>174</c:v>
                </c:pt>
                <c:pt idx="2">
                  <c:v>217</c:v>
                </c:pt>
                <c:pt idx="3">
                  <c:v>249</c:v>
                </c:pt>
                <c:pt idx="4">
                  <c:v>291</c:v>
                </c:pt>
                <c:pt idx="5">
                  <c:v>299</c:v>
                </c:pt>
                <c:pt idx="6">
                  <c:v>300</c:v>
                </c:pt>
                <c:pt idx="7">
                  <c:v>300</c:v>
                </c:pt>
                <c:pt idx="8">
                  <c:v>300</c:v>
                </c:pt>
                <c:pt idx="9">
                  <c:v>315</c:v>
                </c:pt>
                <c:pt idx="10">
                  <c:v>316</c:v>
                </c:pt>
                <c:pt idx="11">
                  <c:v>316</c:v>
                </c:pt>
                <c:pt idx="12">
                  <c:v>316</c:v>
                </c:pt>
                <c:pt idx="13">
                  <c:v>316</c:v>
                </c:pt>
                <c:pt idx="14">
                  <c:v>316</c:v>
                </c:pt>
                <c:pt idx="15">
                  <c:v>316</c:v>
                </c:pt>
                <c:pt idx="16">
                  <c:v>316</c:v>
                </c:pt>
                <c:pt idx="17">
                  <c:v>316</c:v>
                </c:pt>
                <c:pt idx="18">
                  <c:v>317</c:v>
                </c:pt>
                <c:pt idx="19">
                  <c:v>317</c:v>
                </c:pt>
                <c:pt idx="20">
                  <c:v>318</c:v>
                </c:pt>
                <c:pt idx="21">
                  <c:v>318</c:v>
                </c:pt>
                <c:pt idx="22">
                  <c:v>318</c:v>
                </c:pt>
                <c:pt idx="23">
                  <c:v>318</c:v>
                </c:pt>
                <c:pt idx="24">
                  <c:v>319</c:v>
                </c:pt>
                <c:pt idx="25">
                  <c:v>319</c:v>
                </c:pt>
                <c:pt idx="26">
                  <c:v>319</c:v>
                </c:pt>
                <c:pt idx="27">
                  <c:v>319</c:v>
                </c:pt>
                <c:pt idx="28">
                  <c:v>319</c:v>
                </c:pt>
                <c:pt idx="29">
                  <c:v>319</c:v>
                </c:pt>
                <c:pt idx="30">
                  <c:v>319</c:v>
                </c:pt>
                <c:pt idx="31">
                  <c:v>319</c:v>
                </c:pt>
                <c:pt idx="32">
                  <c:v>319</c:v>
                </c:pt>
                <c:pt idx="33">
                  <c:v>319</c:v>
                </c:pt>
                <c:pt idx="34">
                  <c:v>319</c:v>
                </c:pt>
                <c:pt idx="35">
                  <c:v>320</c:v>
                </c:pt>
                <c:pt idx="36">
                  <c:v>320</c:v>
                </c:pt>
                <c:pt idx="37">
                  <c:v>320</c:v>
                </c:pt>
                <c:pt idx="38">
                  <c:v>323</c:v>
                </c:pt>
                <c:pt idx="39">
                  <c:v>325</c:v>
                </c:pt>
                <c:pt idx="40">
                  <c:v>326</c:v>
                </c:pt>
                <c:pt idx="41">
                  <c:v>326</c:v>
                </c:pt>
                <c:pt idx="42">
                  <c:v>326</c:v>
                </c:pt>
                <c:pt idx="43">
                  <c:v>326</c:v>
                </c:pt>
                <c:pt idx="44">
                  <c:v>329</c:v>
                </c:pt>
                <c:pt idx="45">
                  <c:v>333</c:v>
                </c:pt>
                <c:pt idx="46">
                  <c:v>333</c:v>
                </c:pt>
                <c:pt idx="47">
                  <c:v>333</c:v>
                </c:pt>
                <c:pt idx="48">
                  <c:v>333</c:v>
                </c:pt>
                <c:pt idx="49">
                  <c:v>333</c:v>
                </c:pt>
                <c:pt idx="50">
                  <c:v>333</c:v>
                </c:pt>
                <c:pt idx="51">
                  <c:v>334</c:v>
                </c:pt>
                <c:pt idx="52">
                  <c:v>334</c:v>
                </c:pt>
                <c:pt idx="53">
                  <c:v>337</c:v>
                </c:pt>
                <c:pt idx="54">
                  <c:v>337</c:v>
                </c:pt>
                <c:pt idx="55">
                  <c:v>338</c:v>
                </c:pt>
                <c:pt idx="56">
                  <c:v>339</c:v>
                </c:pt>
                <c:pt idx="57">
                  <c:v>339</c:v>
                </c:pt>
                <c:pt idx="58">
                  <c:v>339</c:v>
                </c:pt>
                <c:pt idx="59">
                  <c:v>340</c:v>
                </c:pt>
                <c:pt idx="60">
                  <c:v>340</c:v>
                </c:pt>
                <c:pt idx="61">
                  <c:v>340</c:v>
                </c:pt>
                <c:pt idx="62">
                  <c:v>341</c:v>
                </c:pt>
                <c:pt idx="63">
                  <c:v>341</c:v>
                </c:pt>
                <c:pt idx="64">
                  <c:v>341</c:v>
                </c:pt>
                <c:pt idx="65">
                  <c:v>341</c:v>
                </c:pt>
                <c:pt idx="66">
                  <c:v>341</c:v>
                </c:pt>
                <c:pt idx="67">
                  <c:v>342</c:v>
                </c:pt>
                <c:pt idx="68">
                  <c:v>344</c:v>
                </c:pt>
                <c:pt idx="69">
                  <c:v>344</c:v>
                </c:pt>
                <c:pt idx="70">
                  <c:v>344</c:v>
                </c:pt>
                <c:pt idx="71">
                  <c:v>344</c:v>
                </c:pt>
                <c:pt idx="72">
                  <c:v>344</c:v>
                </c:pt>
                <c:pt idx="73">
                  <c:v>345</c:v>
                </c:pt>
                <c:pt idx="74">
                  <c:v>345</c:v>
                </c:pt>
                <c:pt idx="75">
                  <c:v>348</c:v>
                </c:pt>
                <c:pt idx="76">
                  <c:v>349</c:v>
                </c:pt>
                <c:pt idx="77">
                  <c:v>350</c:v>
                </c:pt>
                <c:pt idx="78">
                  <c:v>350</c:v>
                </c:pt>
              </c:numCache>
            </c:numRef>
          </c:xVal>
          <c:yVal>
            <c:numRef>
              <c:f>Sheet1!$L$2:$L$80</c:f>
              <c:numCache>
                <c:formatCode>General</c:formatCode>
                <c:ptCount val="79"/>
                <c:pt idx="0">
                  <c:v>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3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>3</c:v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>3</c:v>
                </c:pt>
                <c:pt idx="77">
                  <c:v/>
                </c:pt>
                <c:pt idx="78">
                  <c:v/>
                </c:pt>
              </c:numCache>
            </c:numRef>
          </c:yVal>
          <c:bubbleSize>
            <c:numRef>
              <c:f>Sheet1!$M$2:$M$80</c:f>
              <c:numCache>
                <c:formatCode>General</c:formatCode>
                <c:ptCount val="79"/>
                <c:pt idx="0">
                  <c:v>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2.5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>2.5</c:v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>2.5</c:v>
                </c:pt>
                <c:pt idx="77">
                  <c:v/>
                </c:pt>
                <c:pt idx="78">
                  <c:v/>
                </c:pt>
              </c:numCache>
            </c:numRef>
          </c:bubbleSize>
          <c:bubble3D val="0"/>
        </c:ser>
        <c:ser>
          <c:idx val="6"/>
          <c:order val="6"/>
          <c:tx>
            <c:strRef>
              <c:f>Sheet1!$N$1</c:f>
              <c:strCache>
                <c:ptCount val="1"/>
                <c:pt idx="0">
                  <c:v>Hiring</c:v>
                </c:pt>
              </c:strCache>
            </c:strRef>
          </c:tx>
          <c:spPr>
            <a:solidFill>
              <a:srgbClr val="6B8E9E">
                <a:alpha val="70000"/>
              </a:srgbClr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xVal>
            <c:numRef>
              <c:f>Sheet1!$A$2:$A$80</c:f>
              <c:numCache>
                <c:formatCode>General</c:formatCode>
                <c:ptCount val="79"/>
                <c:pt idx="0">
                  <c:v>18</c:v>
                </c:pt>
                <c:pt idx="1">
                  <c:v>174</c:v>
                </c:pt>
                <c:pt idx="2">
                  <c:v>217</c:v>
                </c:pt>
                <c:pt idx="3">
                  <c:v>249</c:v>
                </c:pt>
                <c:pt idx="4">
                  <c:v>291</c:v>
                </c:pt>
                <c:pt idx="5">
                  <c:v>299</c:v>
                </c:pt>
                <c:pt idx="6">
                  <c:v>300</c:v>
                </c:pt>
                <c:pt idx="7">
                  <c:v>300</c:v>
                </c:pt>
                <c:pt idx="8">
                  <c:v>300</c:v>
                </c:pt>
                <c:pt idx="9">
                  <c:v>315</c:v>
                </c:pt>
                <c:pt idx="10">
                  <c:v>316</c:v>
                </c:pt>
                <c:pt idx="11">
                  <c:v>316</c:v>
                </c:pt>
                <c:pt idx="12">
                  <c:v>316</c:v>
                </c:pt>
                <c:pt idx="13">
                  <c:v>316</c:v>
                </c:pt>
                <c:pt idx="14">
                  <c:v>316</c:v>
                </c:pt>
                <c:pt idx="15">
                  <c:v>316</c:v>
                </c:pt>
                <c:pt idx="16">
                  <c:v>316</c:v>
                </c:pt>
                <c:pt idx="17">
                  <c:v>316</c:v>
                </c:pt>
                <c:pt idx="18">
                  <c:v>317</c:v>
                </c:pt>
                <c:pt idx="19">
                  <c:v>317</c:v>
                </c:pt>
                <c:pt idx="20">
                  <c:v>318</c:v>
                </c:pt>
                <c:pt idx="21">
                  <c:v>318</c:v>
                </c:pt>
                <c:pt idx="22">
                  <c:v>318</c:v>
                </c:pt>
                <c:pt idx="23">
                  <c:v>318</c:v>
                </c:pt>
                <c:pt idx="24">
                  <c:v>319</c:v>
                </c:pt>
                <c:pt idx="25">
                  <c:v>319</c:v>
                </c:pt>
                <c:pt idx="26">
                  <c:v>319</c:v>
                </c:pt>
                <c:pt idx="27">
                  <c:v>319</c:v>
                </c:pt>
                <c:pt idx="28">
                  <c:v>319</c:v>
                </c:pt>
                <c:pt idx="29">
                  <c:v>319</c:v>
                </c:pt>
                <c:pt idx="30">
                  <c:v>319</c:v>
                </c:pt>
                <c:pt idx="31">
                  <c:v>319</c:v>
                </c:pt>
                <c:pt idx="32">
                  <c:v>319</c:v>
                </c:pt>
                <c:pt idx="33">
                  <c:v>319</c:v>
                </c:pt>
                <c:pt idx="34">
                  <c:v>319</c:v>
                </c:pt>
                <c:pt idx="35">
                  <c:v>320</c:v>
                </c:pt>
                <c:pt idx="36">
                  <c:v>320</c:v>
                </c:pt>
                <c:pt idx="37">
                  <c:v>320</c:v>
                </c:pt>
                <c:pt idx="38">
                  <c:v>323</c:v>
                </c:pt>
                <c:pt idx="39">
                  <c:v>325</c:v>
                </c:pt>
                <c:pt idx="40">
                  <c:v>326</c:v>
                </c:pt>
                <c:pt idx="41">
                  <c:v>326</c:v>
                </c:pt>
                <c:pt idx="42">
                  <c:v>326</c:v>
                </c:pt>
                <c:pt idx="43">
                  <c:v>326</c:v>
                </c:pt>
                <c:pt idx="44">
                  <c:v>329</c:v>
                </c:pt>
                <c:pt idx="45">
                  <c:v>333</c:v>
                </c:pt>
                <c:pt idx="46">
                  <c:v>333</c:v>
                </c:pt>
                <c:pt idx="47">
                  <c:v>333</c:v>
                </c:pt>
                <c:pt idx="48">
                  <c:v>333</c:v>
                </c:pt>
                <c:pt idx="49">
                  <c:v>333</c:v>
                </c:pt>
                <c:pt idx="50">
                  <c:v>333</c:v>
                </c:pt>
                <c:pt idx="51">
                  <c:v>334</c:v>
                </c:pt>
                <c:pt idx="52">
                  <c:v>334</c:v>
                </c:pt>
                <c:pt idx="53">
                  <c:v>337</c:v>
                </c:pt>
                <c:pt idx="54">
                  <c:v>337</c:v>
                </c:pt>
                <c:pt idx="55">
                  <c:v>338</c:v>
                </c:pt>
                <c:pt idx="56">
                  <c:v>339</c:v>
                </c:pt>
                <c:pt idx="57">
                  <c:v>339</c:v>
                </c:pt>
                <c:pt idx="58">
                  <c:v>339</c:v>
                </c:pt>
                <c:pt idx="59">
                  <c:v>340</c:v>
                </c:pt>
                <c:pt idx="60">
                  <c:v>340</c:v>
                </c:pt>
                <c:pt idx="61">
                  <c:v>340</c:v>
                </c:pt>
                <c:pt idx="62">
                  <c:v>341</c:v>
                </c:pt>
                <c:pt idx="63">
                  <c:v>341</c:v>
                </c:pt>
                <c:pt idx="64">
                  <c:v>341</c:v>
                </c:pt>
                <c:pt idx="65">
                  <c:v>341</c:v>
                </c:pt>
                <c:pt idx="66">
                  <c:v>341</c:v>
                </c:pt>
                <c:pt idx="67">
                  <c:v>342</c:v>
                </c:pt>
                <c:pt idx="68">
                  <c:v>344</c:v>
                </c:pt>
                <c:pt idx="69">
                  <c:v>344</c:v>
                </c:pt>
                <c:pt idx="70">
                  <c:v>344</c:v>
                </c:pt>
                <c:pt idx="71">
                  <c:v>344</c:v>
                </c:pt>
                <c:pt idx="72">
                  <c:v>344</c:v>
                </c:pt>
                <c:pt idx="73">
                  <c:v>345</c:v>
                </c:pt>
                <c:pt idx="74">
                  <c:v>345</c:v>
                </c:pt>
                <c:pt idx="75">
                  <c:v>348</c:v>
                </c:pt>
                <c:pt idx="76">
                  <c:v>349</c:v>
                </c:pt>
                <c:pt idx="77">
                  <c:v>350</c:v>
                </c:pt>
                <c:pt idx="78">
                  <c:v>350</c:v>
                </c:pt>
              </c:numCache>
            </c:numRef>
          </c:xVal>
          <c:yVal>
            <c:numRef>
              <c:f>Sheet1!$N$2:$N$80</c:f>
              <c:numCache>
                <c:formatCode>General</c:formatCode>
                <c:ptCount val="7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2</c:v>
                </c:pt>
                <c:pt idx="8">
                  <c:v>2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</c:numCache>
            </c:numRef>
          </c:yVal>
          <c:bubbleSize>
            <c:numRef>
              <c:f>Sheet1!$O$2:$O$80</c:f>
              <c:numCache>
                <c:formatCode>General</c:formatCode>
                <c:ptCount val="7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4</c:v>
                </c:pt>
                <c:pt idx="8">
                  <c:v>4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</c:numCache>
            </c:numRef>
          </c:bubbleSize>
          <c:bubble3D val="0"/>
        </c:ser>
        <c:ser>
          <c:idx val="7"/>
          <c:order val="7"/>
          <c:tx>
            <c:strRef>
              <c:f>Sheet1!$P$1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9B8C8C">
                <a:alpha val="70000"/>
              </a:srgbClr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xVal>
            <c:numRef>
              <c:f>Sheet1!$A$2:$A$80</c:f>
              <c:numCache>
                <c:formatCode>General</c:formatCode>
                <c:ptCount val="79"/>
                <c:pt idx="0">
                  <c:v>18</c:v>
                </c:pt>
                <c:pt idx="1">
                  <c:v>174</c:v>
                </c:pt>
                <c:pt idx="2">
                  <c:v>217</c:v>
                </c:pt>
                <c:pt idx="3">
                  <c:v>249</c:v>
                </c:pt>
                <c:pt idx="4">
                  <c:v>291</c:v>
                </c:pt>
                <c:pt idx="5">
                  <c:v>299</c:v>
                </c:pt>
                <c:pt idx="6">
                  <c:v>300</c:v>
                </c:pt>
                <c:pt idx="7">
                  <c:v>300</c:v>
                </c:pt>
                <c:pt idx="8">
                  <c:v>300</c:v>
                </c:pt>
                <c:pt idx="9">
                  <c:v>315</c:v>
                </c:pt>
                <c:pt idx="10">
                  <c:v>316</c:v>
                </c:pt>
                <c:pt idx="11">
                  <c:v>316</c:v>
                </c:pt>
                <c:pt idx="12">
                  <c:v>316</c:v>
                </c:pt>
                <c:pt idx="13">
                  <c:v>316</c:v>
                </c:pt>
                <c:pt idx="14">
                  <c:v>316</c:v>
                </c:pt>
                <c:pt idx="15">
                  <c:v>316</c:v>
                </c:pt>
                <c:pt idx="16">
                  <c:v>316</c:v>
                </c:pt>
                <c:pt idx="17">
                  <c:v>316</c:v>
                </c:pt>
                <c:pt idx="18">
                  <c:v>317</c:v>
                </c:pt>
                <c:pt idx="19">
                  <c:v>317</c:v>
                </c:pt>
                <c:pt idx="20">
                  <c:v>318</c:v>
                </c:pt>
                <c:pt idx="21">
                  <c:v>318</c:v>
                </c:pt>
                <c:pt idx="22">
                  <c:v>318</c:v>
                </c:pt>
                <c:pt idx="23">
                  <c:v>318</c:v>
                </c:pt>
                <c:pt idx="24">
                  <c:v>319</c:v>
                </c:pt>
                <c:pt idx="25">
                  <c:v>319</c:v>
                </c:pt>
                <c:pt idx="26">
                  <c:v>319</c:v>
                </c:pt>
                <c:pt idx="27">
                  <c:v>319</c:v>
                </c:pt>
                <c:pt idx="28">
                  <c:v>319</c:v>
                </c:pt>
                <c:pt idx="29">
                  <c:v>319</c:v>
                </c:pt>
                <c:pt idx="30">
                  <c:v>319</c:v>
                </c:pt>
                <c:pt idx="31">
                  <c:v>319</c:v>
                </c:pt>
                <c:pt idx="32">
                  <c:v>319</c:v>
                </c:pt>
                <c:pt idx="33">
                  <c:v>319</c:v>
                </c:pt>
                <c:pt idx="34">
                  <c:v>319</c:v>
                </c:pt>
                <c:pt idx="35">
                  <c:v>320</c:v>
                </c:pt>
                <c:pt idx="36">
                  <c:v>320</c:v>
                </c:pt>
                <c:pt idx="37">
                  <c:v>320</c:v>
                </c:pt>
                <c:pt idx="38">
                  <c:v>323</c:v>
                </c:pt>
                <c:pt idx="39">
                  <c:v>325</c:v>
                </c:pt>
                <c:pt idx="40">
                  <c:v>326</c:v>
                </c:pt>
                <c:pt idx="41">
                  <c:v>326</c:v>
                </c:pt>
                <c:pt idx="42">
                  <c:v>326</c:v>
                </c:pt>
                <c:pt idx="43">
                  <c:v>326</c:v>
                </c:pt>
                <c:pt idx="44">
                  <c:v>329</c:v>
                </c:pt>
                <c:pt idx="45">
                  <c:v>333</c:v>
                </c:pt>
                <c:pt idx="46">
                  <c:v>333</c:v>
                </c:pt>
                <c:pt idx="47">
                  <c:v>333</c:v>
                </c:pt>
                <c:pt idx="48">
                  <c:v>333</c:v>
                </c:pt>
                <c:pt idx="49">
                  <c:v>333</c:v>
                </c:pt>
                <c:pt idx="50">
                  <c:v>333</c:v>
                </c:pt>
                <c:pt idx="51">
                  <c:v>334</c:v>
                </c:pt>
                <c:pt idx="52">
                  <c:v>334</c:v>
                </c:pt>
                <c:pt idx="53">
                  <c:v>337</c:v>
                </c:pt>
                <c:pt idx="54">
                  <c:v>337</c:v>
                </c:pt>
                <c:pt idx="55">
                  <c:v>338</c:v>
                </c:pt>
                <c:pt idx="56">
                  <c:v>339</c:v>
                </c:pt>
                <c:pt idx="57">
                  <c:v>339</c:v>
                </c:pt>
                <c:pt idx="58">
                  <c:v>339</c:v>
                </c:pt>
                <c:pt idx="59">
                  <c:v>340</c:v>
                </c:pt>
                <c:pt idx="60">
                  <c:v>340</c:v>
                </c:pt>
                <c:pt idx="61">
                  <c:v>340</c:v>
                </c:pt>
                <c:pt idx="62">
                  <c:v>341</c:v>
                </c:pt>
                <c:pt idx="63">
                  <c:v>341</c:v>
                </c:pt>
                <c:pt idx="64">
                  <c:v>341</c:v>
                </c:pt>
                <c:pt idx="65">
                  <c:v>341</c:v>
                </c:pt>
                <c:pt idx="66">
                  <c:v>341</c:v>
                </c:pt>
                <c:pt idx="67">
                  <c:v>342</c:v>
                </c:pt>
                <c:pt idx="68">
                  <c:v>344</c:v>
                </c:pt>
                <c:pt idx="69">
                  <c:v>344</c:v>
                </c:pt>
                <c:pt idx="70">
                  <c:v>344</c:v>
                </c:pt>
                <c:pt idx="71">
                  <c:v>344</c:v>
                </c:pt>
                <c:pt idx="72">
                  <c:v>344</c:v>
                </c:pt>
                <c:pt idx="73">
                  <c:v>345</c:v>
                </c:pt>
                <c:pt idx="74">
                  <c:v>345</c:v>
                </c:pt>
                <c:pt idx="75">
                  <c:v>348</c:v>
                </c:pt>
                <c:pt idx="76">
                  <c:v>349</c:v>
                </c:pt>
                <c:pt idx="77">
                  <c:v>350</c:v>
                </c:pt>
                <c:pt idx="78">
                  <c:v>350</c:v>
                </c:pt>
              </c:numCache>
            </c:numRef>
          </c:xVal>
          <c:yVal>
            <c:numRef>
              <c:f>Sheet1!$P$2:$P$80</c:f>
              <c:numCache>
                <c:formatCode>General</c:formatCode>
                <c:ptCount val="7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>1</c:v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>1</c:v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>1</c:v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>1</c:v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>1</c:v>
                </c:pt>
              </c:numCache>
            </c:numRef>
          </c:yVal>
          <c:bubbleSize>
            <c:numRef>
              <c:f>Sheet1!$Q$2:$Q$80</c:f>
              <c:numCache>
                <c:formatCode>General</c:formatCode>
                <c:ptCount val="7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>2.5</c:v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>4</c:v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>2.5</c:v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>2.5</c:v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>2.5</c:v>
                </c:pt>
              </c:numCache>
            </c:numRef>
          </c:bubbleSize>
          <c:bubble3D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LeaderLines val="0"/>
            </c:ext>
          </c:extLst>
        </c:dLbls>
        <c:axId val="2094734554"/>
        <c:axId val="2094734552"/>
      </c:bubbleChart>
      <c:valAx>
        <c:axId val="2094734554"/>
        <c:scaling>
          <c:orientation val="minMax"/>
          <c:max val="355"/>
          <c:min val="0"/>
        </c:scaling>
        <c:delete val="0"/>
        <c:axPos val="b"/>
        <c:majorGridlines>
          <c:spPr>
            <a:ln w="6350" cap="flat">
              <a:solidFill>
                <a:srgbClr val="E8ECF4"/>
              </a:solidFill>
              <a:prstDash val="dot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896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6E7896"/>
                    </a:solidFill>
                    <a:latin typeface="Calibri"/>
                  </a:rPr>
                  <a:t>Day-of-period (May 2025 → Apr 2026) — GTC week = day 318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89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60"/>
      </c:valAx>
      <c:valAx>
        <c:axId val="2094734552"/>
        <c:scaling>
          <c:orientation val="minMax"/>
          <c:max val="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76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Signals / month</c:v>
                </c:pt>
              </c:strCache>
            </c:strRef>
          </c:tx>
          <c:spPr>
            <a:solidFill>
              <a:srgbClr val="F5B7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2025-05</c:v>
                  </c:pt>
                  <c:pt idx="1">
                    <c:v>2025-10</c:v>
                  </c:pt>
                  <c:pt idx="2">
                    <c:v>2025-12</c:v>
                  </c:pt>
                  <c:pt idx="3">
                    <c:v>2026-01</c:v>
                  </c:pt>
                  <c:pt idx="4">
                    <c:v>2026-02</c:v>
                  </c:pt>
                  <c:pt idx="5">
                    <c:v>2026-03</c:v>
                  </c:pt>
                  <c:pt idx="6">
                    <c:v>2026-04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44</c:v>
                </c:pt>
                <c:pt idx="6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Avg sentiment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2025-05</c:v>
                  </c:pt>
                  <c:pt idx="1">
                    <c:v>2025-10</c:v>
                  </c:pt>
                  <c:pt idx="2">
                    <c:v>2025-12</c:v>
                  </c:pt>
                  <c:pt idx="3">
                    <c:v>2026-01</c:v>
                  </c:pt>
                  <c:pt idx="4">
                    <c:v>2026-02</c:v>
                  </c:pt>
                  <c:pt idx="5">
                    <c:v>2026-03</c:v>
                  </c:pt>
                  <c:pt idx="6">
                    <c:v>2026-04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0.8</c:v>
                </c:pt>
                <c:pt idx="1">
                  <c:v>0.9</c:v>
                </c:pt>
                <c:pt idx="2">
                  <c:v>0.9</c:v>
                </c:pt>
                <c:pt idx="3">
                  <c:v>0.8</c:v>
                </c:pt>
                <c:pt idx="4">
                  <c:v>0.54</c:v>
                </c:pt>
                <c:pt idx="5">
                  <c:v>0.639</c:v>
                </c:pt>
                <c:pt idx="6">
                  <c:v>0.292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2F4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896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6E7896"/>
                    </a:solidFill>
                    <a:latin typeface="Calibri"/>
                  </a:rPr>
                  <a:t>Signal volume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8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1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1E2761"/>
                    </a:solidFill>
                    <a:latin typeface="Calibri"/>
                  </a:rPr>
                  <a:t>Avg sentiment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2F45"/>
                </a:solidFill>
                <a:latin typeface="Calibr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76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$1T  Blackwell+Rubin lifetime</c:v>
                  </c:pt>
                  <c:pt idx="1">
                    <c:v>$100B  roadmap chatter</c:v>
                  </c:pt>
                  <c:pt idx="2">
                    <c:v>$30B  roadmap chatter</c:v>
                  </c:pt>
                  <c:pt idx="3">
                    <c:v>$26B  → OpenAI models</c:v>
                  </c:pt>
                  <c:pt idx="4">
                    <c:v>$7B  NVLink licensing buzz</c:v>
                  </c:pt>
                  <c:pt idx="5">
                    <c:v>$5.5B  Firmus valuation</c:v>
                  </c:pt>
                  <c:pt idx="6">
                    <c:v>$2.5B  Supermicro China probe</c:v>
                  </c:pt>
                  <c:pt idx="7">
                    <c:v>$830M  Mistral debt finance</c:v>
                  </c:pt>
                  <c:pt idx="8">
                    <c:v>$170M  Starcloud orbital DC</c:v>
                  </c:pt>
                  <c:pt idx="9">
                    <c:v>$92M  Sharetronic banned chips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1000000000000</c:v>
                </c:pt>
                <c:pt idx="1">
                  <c:v>100000000000</c:v>
                </c:pt>
                <c:pt idx="2">
                  <c:v>30000000000</c:v>
                </c:pt>
                <c:pt idx="3">
                  <c:v>26000000000</c:v>
                </c:pt>
                <c:pt idx="4">
                  <c:v>7000000000</c:v>
                </c:pt>
                <c:pt idx="5">
                  <c:v>5500000000</c:v>
                </c:pt>
                <c:pt idx="6">
                  <c:v>2500000000</c:v>
                </c:pt>
                <c:pt idx="7">
                  <c:v>830000000</c:v>
                </c:pt>
                <c:pt idx="8">
                  <c:v>170000000</c:v>
                </c:pt>
                <c:pt idx="9">
                  <c:v>92000000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2A2F4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2000000000000"/>
          <c:min val="100000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,,,&quot;B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78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NVIDIA moat</c:v>
                </c:pt>
              </c:strCache>
            </c:strRef>
          </c:tx>
          <c:spPr>
            <a:solidFill>
              <a:srgbClr val="F5B700">
                <a:alpha val="35000"/>
              </a:srgbClr>
            </a:solidFill>
            <a:ln w="31750" cap="flat">
              <a:solidFill>
                <a:srgbClr val="F5B70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8"/>
            <c:spPr>
              <a:solidFill>
                <a:srgbClr val="F5B700"/>
              </a:solidFill>
              <a:ln w="19050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Hardware lead</c:v>
                  </c:pt>
                  <c:pt idx="1">
                    <c:v>Software ecosystem</c:v>
                  </c:pt>
                  <c:pt idx="2">
                    <c:v>Developer mindshare</c:v>
                  </c:pt>
                  <c:pt idx="3">
                    <c:v>Open-source hedge</c:v>
                  </c:pt>
                  <c:pt idx="4">
                    <c:v>Acquisition depth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9</c:v>
                </c:pt>
                <c:pt idx="2">
                  <c:v>8</c:v>
                </c:pt>
                <c:pt idx="3">
                  <c:v>6</c:v>
                </c:pt>
                <c:pt idx="4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8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Geopolitics</c:v>
                </c:pt>
              </c:strCache>
            </c:strRef>
          </c:tx>
          <c:spPr>
            <a:solidFill>
              <a:srgbClr val="C0352E">
                <a:alpha val="80000"/>
              </a:srgbClr>
            </a:solidFill>
            <a:ln w="25400" cap="flat">
              <a:solidFill>
                <a:srgbClr val="C0352E"/>
              </a:solidFill>
              <a:prstDash val="solid"/>
              <a:round/>
            </a:ln>
            <a:effectLst/>
          </c:spPr>
          <c:xVal>
            <c:numRef>
              <c:f>Sheet1!$A$2:$A$8</c:f>
              <c:numCache>
                <c:formatCode>General</c:formatCode>
                <c:ptCount val="7"/>
                <c:pt idx="0">
                  <c:v>326</c:v>
                </c:pt>
                <c:pt idx="1">
                  <c:v>333</c:v>
                </c:pt>
                <c:pt idx="2">
                  <c:v>341</c:v>
                </c:pt>
                <c:pt idx="3">
                  <c:v>341</c:v>
                </c:pt>
                <c:pt idx="4">
                  <c:v>342</c:v>
                </c:pt>
                <c:pt idx="5">
                  <c:v>344</c:v>
                </c:pt>
                <c:pt idx="6">
                  <c:v>344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-0.7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</c:numCache>
            </c:numRef>
          </c:yVal>
          <c:bubbleSize>
            <c:numRef>
              <c:f>Sheet1!$C$2:$C$8</c:f>
              <c:numCache>
                <c:formatCode>General</c:formatCode>
                <c:ptCount val="7"/>
                <c:pt idx="0">
                  <c:v>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Earnings &amp; Market</c:v>
                </c:pt>
              </c:strCache>
            </c:strRef>
          </c:tx>
          <c:spPr>
            <a:solidFill>
              <a:srgbClr val="7FB069">
                <a:alpha val="80000"/>
              </a:srgbClr>
            </a:solidFill>
            <a:ln w="25400" cap="flat">
              <a:solidFill>
                <a:srgbClr val="7FB069"/>
              </a:solidFill>
              <a:prstDash val="solid"/>
              <a:round/>
            </a:ln>
            <a:effectLst/>
          </c:spPr>
          <c:xVal>
            <c:numRef>
              <c:f>Sheet1!$A$2:$A$8</c:f>
              <c:numCache>
                <c:formatCode>General</c:formatCode>
                <c:ptCount val="7"/>
                <c:pt idx="0">
                  <c:v>326</c:v>
                </c:pt>
                <c:pt idx="1">
                  <c:v>333</c:v>
                </c:pt>
                <c:pt idx="2">
                  <c:v>341</c:v>
                </c:pt>
                <c:pt idx="3">
                  <c:v>341</c:v>
                </c:pt>
                <c:pt idx="4">
                  <c:v>342</c:v>
                </c:pt>
                <c:pt idx="5">
                  <c:v>344</c:v>
                </c:pt>
                <c:pt idx="6">
                  <c:v>344</c:v>
                </c:pt>
              </c:numCache>
            </c:numRef>
          </c:xVal>
          <c:yVal>
            <c:numRef>
              <c:f>Sheet1!$D$2:$D$8</c:f>
              <c:numCache>
                <c:formatCode>General</c:formatCode>
                <c:ptCount val="7"/>
                <c:pt idx="0">
                  <c:v/>
                </c:pt>
                <c:pt idx="1">
                  <c:v>-0.5</c:v>
                </c:pt>
                <c:pt idx="2">
                  <c:v/>
                </c:pt>
                <c:pt idx="3">
                  <c:v/>
                </c:pt>
                <c:pt idx="4">
                  <c:v>-0.6</c:v>
                </c:pt>
                <c:pt idx="5">
                  <c:v/>
                </c:pt>
                <c:pt idx="6">
                  <c:v/>
                </c:pt>
              </c:numCache>
            </c:numRef>
          </c:yVal>
          <c:bubbleSize>
            <c:numRef>
              <c:f>Sheet1!$E$2:$E$8</c:f>
              <c:numCache>
                <c:formatCode>General</c:formatCode>
                <c:ptCount val="7"/>
                <c:pt idx="0">
                  <c:v/>
                </c:pt>
                <c:pt idx="1">
                  <c:v>14</c:v>
                </c:pt>
                <c:pt idx="2">
                  <c:v/>
                </c:pt>
                <c:pt idx="3">
                  <c:v/>
                </c:pt>
                <c:pt idx="4">
                  <c:v>14</c:v>
                </c:pt>
                <c:pt idx="5">
                  <c:v/>
                </c:pt>
                <c:pt idx="6">
                  <c:v/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Strategic Deals</c:v>
                </c:pt>
              </c:strCache>
            </c:strRef>
          </c:tx>
          <c:spPr>
            <a:solidFill>
              <a:srgbClr val="E07A5F">
                <a:alpha val="80000"/>
              </a:srgbClr>
            </a:solidFill>
            <a:ln w="25400" cap="flat">
              <a:solidFill>
                <a:srgbClr val="E07A5F"/>
              </a:solidFill>
              <a:prstDash val="solid"/>
              <a:round/>
            </a:ln>
            <a:effectLst/>
          </c:spPr>
          <c:xVal>
            <c:numRef>
              <c:f>Sheet1!$A$2:$A$8</c:f>
              <c:numCache>
                <c:formatCode>General</c:formatCode>
                <c:ptCount val="7"/>
                <c:pt idx="0">
                  <c:v>326</c:v>
                </c:pt>
                <c:pt idx="1">
                  <c:v>333</c:v>
                </c:pt>
                <c:pt idx="2">
                  <c:v>341</c:v>
                </c:pt>
                <c:pt idx="3">
                  <c:v>341</c:v>
                </c:pt>
                <c:pt idx="4">
                  <c:v>342</c:v>
                </c:pt>
                <c:pt idx="5">
                  <c:v>344</c:v>
                </c:pt>
                <c:pt idx="6">
                  <c:v>344</c:v>
                </c:pt>
              </c:numCache>
            </c:numRef>
          </c:xVal>
          <c:yVal>
            <c:numRef>
              <c:f>Sheet1!$F$2:$F$8</c:f>
              <c:numCache>
                <c:formatCode>General</c:formatCode>
                <c:ptCount val="7"/>
                <c:pt idx="0">
                  <c:v/>
                </c:pt>
                <c:pt idx="1">
                  <c:v/>
                </c:pt>
                <c:pt idx="2">
                  <c:v>-0.9</c:v>
                </c:pt>
                <c:pt idx="3">
                  <c:v>-0.4</c:v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</c:numCache>
            </c:numRef>
          </c:yVal>
          <c:bubbleSize>
            <c:numRef>
              <c:f>Sheet1!$G$2:$G$8</c:f>
              <c:numCache>
                <c:formatCode>General</c:formatCode>
                <c:ptCount val="7"/>
                <c:pt idx="0">
                  <c:v/>
                </c:pt>
                <c:pt idx="1">
                  <c:v/>
                </c:pt>
                <c:pt idx="2">
                  <c:v>14</c:v>
                </c:pt>
                <c:pt idx="3">
                  <c:v>14</c:v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f>Sheet1!$H$1</c:f>
              <c:strCache>
                <c:ptCount val="1"/>
                <c:pt idx="0">
                  <c:v>AI Platform / Roadmap</c:v>
                </c:pt>
              </c:strCache>
            </c:strRef>
          </c:tx>
          <c:spPr>
            <a:solidFill>
              <a:srgbClr val="F5B700">
                <a:alpha val="80000"/>
              </a:srgbClr>
            </a:solidFill>
            <a:ln w="25400" cap="flat">
              <a:solidFill>
                <a:srgbClr val="F5B700"/>
              </a:solidFill>
              <a:prstDash val="solid"/>
              <a:round/>
            </a:ln>
            <a:effectLst/>
          </c:spPr>
          <c:xVal>
            <c:numRef>
              <c:f>Sheet1!$A$2:$A$8</c:f>
              <c:numCache>
                <c:formatCode>General</c:formatCode>
                <c:ptCount val="7"/>
                <c:pt idx="0">
                  <c:v>326</c:v>
                </c:pt>
                <c:pt idx="1">
                  <c:v>333</c:v>
                </c:pt>
                <c:pt idx="2">
                  <c:v>341</c:v>
                </c:pt>
                <c:pt idx="3">
                  <c:v>341</c:v>
                </c:pt>
                <c:pt idx="4">
                  <c:v>342</c:v>
                </c:pt>
                <c:pt idx="5">
                  <c:v>344</c:v>
                </c:pt>
                <c:pt idx="6">
                  <c:v>344</c:v>
                </c:pt>
              </c:numCache>
            </c:numRef>
          </c:xVal>
          <c:yVal>
            <c:numRef>
              <c:f>Sheet1!$H$2:$H$8</c:f>
              <c:numCache>
                <c:formatCode>General</c:formatCode>
                <c:ptCount val="7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-0.5</c:v>
                </c:pt>
                <c:pt idx="6">
                  <c:v>-0.5</c:v>
                </c:pt>
              </c:numCache>
            </c:numRef>
          </c:yVal>
          <c:bubbleSize>
            <c:numRef>
              <c:f>Sheet1!$I$2:$I$8</c:f>
              <c:numCache>
                <c:formatCode>General</c:formatCode>
                <c:ptCount val="7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14</c:v>
                </c:pt>
                <c:pt idx="6">
                  <c:v>14</c:v>
                </c:pt>
              </c:numCache>
            </c:numRef>
          </c:bubbleSize>
          <c:bubble3D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LeaderLines val="0"/>
            </c:ext>
          </c:extLst>
        </c:dLbls>
        <c:axId val="2094734554"/>
        <c:axId val="2094734552"/>
      </c:bubbleChart>
      <c:valAx>
        <c:axId val="2094734554"/>
        <c:scaling>
          <c:orientation val="minMax"/>
          <c:max val="360"/>
          <c:min val="260"/>
        </c:scaling>
        <c:delete val="0"/>
        <c:axPos val="b"/>
        <c:majorGridlines>
          <c:spPr>
            <a:ln w="6350" cap="flat">
              <a:solidFill>
                <a:srgbClr val="2A3775"/>
              </a:solidFill>
              <a:prstDash val="dot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CADCFC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CADCFC"/>
                    </a:solidFill>
                    <a:latin typeface="Calibri"/>
                  </a:rPr>
                  <a:t>Day of period (May 2025 → Apr 2026)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ADCF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20"/>
      </c:valAx>
      <c:valAx>
        <c:axId val="2094734552"/>
        <c:scaling>
          <c:orientation val="minMax"/>
          <c:max val="0"/>
          <c:min val="-1"/>
        </c:scaling>
        <c:delete val="0"/>
        <c:axPos val="l"/>
        <c:majorGridlines>
          <c:spPr>
            <a:ln w="6350" cap="flat">
              <a:solidFill>
                <a:srgbClr val="2A3775"/>
              </a:solidFill>
              <a:prstDash val="dot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CADCFC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CADCFC"/>
                    </a:solidFill>
                    <a:latin typeface="Calibri"/>
                  </a:rPr>
                  <a:t>Sentiment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ADCF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solidFill>
          <a:srgbClr val="131B4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CADCF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31B44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Google News</c:v>
                  </c:pt>
                  <c:pt idx="1">
                    <c:v>Hiring Intel</c:v>
                  </c:pt>
                  <c:pt idx="2">
                    <c:v>Yahoo Entertainment</c:v>
                  </c:pt>
                  <c:pt idx="3">
                    <c:v>NVIDIA Blog</c:v>
                  </c:pt>
                  <c:pt idx="4">
                    <c:v>The Times of India</c:v>
                  </c:pt>
                  <c:pt idx="5">
                    <c:v>Elchapuzasinformatico.com</c:v>
                  </c:pt>
                  <c:pt idx="6">
                    <c:v>Other sources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54</c:v>
                </c:pt>
                <c:pt idx="1">
                  <c:v>7</c:v>
                </c:pt>
                <c:pt idx="2">
                  <c:v>5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  <c:pt idx="6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%</c:v>
                </c:pt>
              </c:strCache>
            </c:strRef>
          </c:tx>
          <c:spPr>
            <a:solidFill>
              <a:srgbClr val="F5B700"/>
            </a:solidFill>
            <a:ln w="25400" cap="flat">
              <a:solidFill>
                <a:srgbClr val="F5B7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5B700"/>
              </a:solidFill>
              <a:ln w="9525" cap="flat">
                <a:solidFill>
                  <a:srgbClr val="F5B7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Google News</c:v>
                  </c:pt>
                  <c:pt idx="1">
                    <c:v>Hiring Intel</c:v>
                  </c:pt>
                  <c:pt idx="2">
                    <c:v>Yahoo Entertainment</c:v>
                  </c:pt>
                  <c:pt idx="3">
                    <c:v>NVIDIA Blog</c:v>
                  </c:pt>
                  <c:pt idx="4">
                    <c:v>The Times of India</c:v>
                  </c:pt>
                  <c:pt idx="5">
                    <c:v>Elchapuzasinformatico.com</c:v>
                  </c:pt>
                  <c:pt idx="6">
                    <c:v>Other sources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69.2</c:v>
                </c:pt>
                <c:pt idx="1">
                  <c:v>78.2</c:v>
                </c:pt>
                <c:pt idx="2">
                  <c:v>84.6</c:v>
                </c:pt>
                <c:pt idx="3">
                  <c:v>88.5</c:v>
                </c:pt>
                <c:pt idx="4">
                  <c:v>91</c:v>
                </c:pt>
                <c:pt idx="5">
                  <c:v>92.3</c:v>
                </c:pt>
                <c:pt idx="6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750" b="0" i="0" u="none" strike="noStrike">
                <a:solidFill>
                  <a:srgbClr val="2A2F4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D8DF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78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100"/>
          <c:min val="0"/>
        </c:scaling>
        <c:delete val="0"/>
        <c:axPos val="r"/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5B700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2A2F45"/>
                </a:solidFill>
                <a:latin typeface="Calibr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solidFill>
          <a:srgbClr val="F4F6FB"/>
        </a:solidFill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Analyst radar — 1-10 scoring rationale:
 • Hardware lead (10): Blackwell Ultra 50x perf / 35x cheaper validated by SemiAnalysis InferenceX.
 • Software ecosystem (9): CUDA 13.1 + AITune open-sourced + SchedMD buy = full-stack control.
 • Developer mindshare (8): GTC 2026 attendance record + $1T narrative consolidation. China push to 'break CUDA grip' suggests mindshare is still the central asset to defend.
 • Open-source hedge (6): AITune is real but SchedMD acquisition triggered dev-community worry — 6 reflects ambivalence.
 • Acquisition depth (7): $26B OpenAI stake + SchedMD + Firmus backing = buying distribution, not just selling chips.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2377440"/>
            <a:ext cx="7315200" cy="7315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-1371600"/>
            <a:ext cx="5303520" cy="5303520"/>
          </a:xfrm>
          <a:prstGeom prst="ellipse">
            <a:avLst/>
          </a:prstGeom>
          <a:solidFill>
            <a:srgbClr val="131B44"/>
          </a:solidFill>
          <a:ln w="12700">
            <a:solidFill>
              <a:srgbClr val="131B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822960"/>
            <a:ext cx="4206240" cy="4206240"/>
          </a:xfrm>
          <a:prstGeom prst="ellipse">
            <a:avLst/>
          </a:prstGeom>
          <a:solidFill>
            <a:srgbClr val="131B44"/>
          </a:solidFill>
          <a:ln w="38100">
            <a:solidFill>
              <a:srgbClr val="F5B7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457200" cy="7315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8448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INTELLIGENCE BRIEF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NVIDIA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Brief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1520" y="4251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  ·  2025-05-19 → 2026-04-16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5029200"/>
            <a:ext cx="2651760" cy="1188720"/>
          </a:xfrm>
          <a:prstGeom prst="rect">
            <a:avLst/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0749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31520" y="5779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collected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5029200"/>
            <a:ext cx="2651760" cy="1188720"/>
          </a:xfrm>
          <a:prstGeom prst="rect">
            <a:avLst/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50749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611880" y="5779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buckets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5029200"/>
            <a:ext cx="2651760" cy="1188720"/>
          </a:xfrm>
          <a:prstGeom prst="rect">
            <a:avLst/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50749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492240" y="5779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coverage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0" y="6419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2026-04-23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5486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takes from 79 signals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577840" cy="2240280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45920"/>
            <a:ext cx="82296" cy="2240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783080" y="18105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roadmap is the story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83080" y="251460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Blackwell + Vera Rubin dominate coverage (30 of 79 items, 38%). Jensen's $1T lifetime sales claim is repeated across 5+ outlets — narrative consolidation, not just a one-off headline.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577840" cy="2240280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645920"/>
            <a:ext cx="82296" cy="2240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7830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543800" y="18105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Moat is shifting from silicon to software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43800" y="251460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gets reframed as survival moat (Mar 31). $26B OpenAI stake + SchedMD buy + AITune open-source release suggest NVIDIA is buying distribution for software, not just selling chips.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069080"/>
            <a:ext cx="5577840" cy="2240280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4069080"/>
            <a:ext cx="82296" cy="2240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062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783080" y="423367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signal is concrete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83080" y="493776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H100 rentals up 40%, 10-day stock streak +18%, Firmus at $5.5B, ByteDance tapping 36k Blackwells via Malaysia — supply tightness is visible through prices and workarounds.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4069080"/>
            <a:ext cx="5577840" cy="2240280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4069080"/>
            <a:ext cx="82296" cy="2240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2062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543800" y="423367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surface is widening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43800" y="493776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Sharetronic smuggling ($92M banned chips), IRGC death-threat video, Supermicro $2.5B China probe, Mythos export-control debate. Four distinct geopolitics lines in one quarter.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SIGNAL BRIEF  ·  2025-05 → 2026-04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5486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TEMPO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 of 79 signals landed in March–April 2026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00200"/>
          <a:ext cx="112014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852160"/>
            <a:ext cx="112014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5852160"/>
            <a:ext cx="91440" cy="45720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 week (Mar 13–17) ignites coverage: 44 signals in March alone, 26 more through mid-April. Bubble size = importance.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SIGNAL BRIEF  ·  2025-05 → 2026-04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5486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COVERAGE DISTRIBUTION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79 signals cluster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697480" y="14447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749040" y="14447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00600" y="14447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14447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03720" y="14447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0" y="14447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006840" y="14447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93392"/>
            <a:ext cx="109728" cy="109728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8288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/ Roadmap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97480" y="1828800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82880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0" y="1828800"/>
            <a:ext cx="1014984" cy="402336"/>
          </a:xfrm>
          <a:prstGeom prst="rect">
            <a:avLst/>
          </a:prstGeom>
          <a:solidFill>
            <a:srgbClr val="BEC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182880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1828800"/>
            <a:ext cx="1014984" cy="402336"/>
          </a:xfrm>
          <a:prstGeom prst="rect">
            <a:avLst/>
          </a:prstGeom>
          <a:solidFill>
            <a:srgbClr val="BEC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82880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52160" y="1828800"/>
            <a:ext cx="1014984" cy="402336"/>
          </a:xfrm>
          <a:prstGeom prst="rect">
            <a:avLst/>
          </a:prstGeom>
          <a:solidFill>
            <a:srgbClr val="BEC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182880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03720" y="1828800"/>
            <a:ext cx="1014984" cy="402336"/>
          </a:xfrm>
          <a:prstGeom prst="rect">
            <a:avLst/>
          </a:prstGeom>
          <a:solidFill>
            <a:srgbClr val="A5B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82880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0" y="1828800"/>
            <a:ext cx="1014984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182880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06840" y="1828800"/>
            <a:ext cx="1014984" cy="402336"/>
          </a:xfrm>
          <a:prstGeom prst="rect">
            <a:avLst/>
          </a:prstGeom>
          <a:solidFill>
            <a:srgbClr val="4F5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6840" y="182880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432304"/>
            <a:ext cx="109728" cy="10972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26771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&amp; GTC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97480" y="2267712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2267712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49040" y="2267712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2267712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2267712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267712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852160" y="2267712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0" y="2267712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03720" y="2267712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2267712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955280" y="2267712"/>
            <a:ext cx="1014984" cy="402336"/>
          </a:xfrm>
          <a:prstGeom prst="rect">
            <a:avLst/>
          </a:prstGeom>
          <a:solidFill>
            <a:srgbClr val="4F5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0" y="2267712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006840" y="2267712"/>
            <a:ext cx="1014984" cy="402336"/>
          </a:xfrm>
          <a:prstGeom prst="rect">
            <a:avLst/>
          </a:prstGeom>
          <a:solidFill>
            <a:srgbClr val="B1C2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06840" y="2267712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2871216"/>
            <a:ext cx="109728" cy="109728"/>
          </a:xfrm>
          <a:prstGeom prst="rect">
            <a:avLst/>
          </a:prstGeom>
          <a:solidFill>
            <a:srgbClr val="7FB069"/>
          </a:solidFill>
          <a:ln w="12700">
            <a:solidFill>
              <a:srgbClr val="7FB0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270662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&amp; Market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697480" y="2706624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97480" y="2706624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749040" y="2706624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0" y="2706624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800600" y="2706624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2706624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852160" y="2706624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52160" y="2706624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903720" y="2706624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03720" y="2706624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955280" y="2706624"/>
            <a:ext cx="1014984" cy="402336"/>
          </a:xfrm>
          <a:prstGeom prst="rect">
            <a:avLst/>
          </a:prstGeom>
          <a:solidFill>
            <a:srgbClr val="99A8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55280" y="2706624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006840" y="2706624"/>
            <a:ext cx="1014984" cy="402336"/>
          </a:xfrm>
          <a:prstGeom prst="rect">
            <a:avLst/>
          </a:prstGeom>
          <a:solidFill>
            <a:srgbClr val="808EB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06840" y="2706624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65760" y="3310128"/>
            <a:ext cx="109728" cy="10972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314553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Deals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697480" y="3145536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97480" y="3145536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749040" y="3145536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49040" y="3145536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800600" y="3145536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00600" y="3145536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852160" y="3145536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52160" y="3145536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903720" y="3145536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03720" y="3145536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955280" y="3145536"/>
            <a:ext cx="1014984" cy="402336"/>
          </a:xfrm>
          <a:prstGeom prst="rect">
            <a:avLst/>
          </a:prstGeom>
          <a:solidFill>
            <a:srgbClr val="8D9BC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55280" y="3145536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9006840" y="3145536"/>
            <a:ext cx="1014984" cy="402336"/>
          </a:xfrm>
          <a:prstGeom prst="rect">
            <a:avLst/>
          </a:prstGeom>
          <a:solidFill>
            <a:srgbClr val="99A8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006840" y="3145536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365760" y="3749040"/>
            <a:ext cx="109728" cy="109728"/>
          </a:xfrm>
          <a:prstGeom prst="rect">
            <a:avLst/>
          </a:prstGeom>
          <a:solidFill>
            <a:srgbClr val="8884D8"/>
          </a:solidFill>
          <a:ln w="12700">
            <a:solidFill>
              <a:srgbClr val="8884D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48640" y="358444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CUDA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697480" y="3584448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697480" y="3584448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3749040" y="3584448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49040" y="3584448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4800600" y="3584448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00600" y="3584448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5852160" y="3584448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852160" y="3584448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6903720" y="3584448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903720" y="3584448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7955280" y="3584448"/>
            <a:ext cx="1014984" cy="402336"/>
          </a:xfrm>
          <a:prstGeom prst="rect">
            <a:avLst/>
          </a:prstGeom>
          <a:solidFill>
            <a:srgbClr val="808EB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955280" y="3584448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9006840" y="3584448"/>
            <a:ext cx="1014984" cy="402336"/>
          </a:xfrm>
          <a:prstGeom prst="rect">
            <a:avLst/>
          </a:prstGeom>
          <a:solidFill>
            <a:srgbClr val="BEC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006840" y="3584448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365760" y="4187952"/>
            <a:ext cx="109728" cy="109728"/>
          </a:xfrm>
          <a:prstGeom prst="rect">
            <a:avLst/>
          </a:prstGeom>
          <a:solidFill>
            <a:srgbClr val="C0352E"/>
          </a:solidFill>
          <a:ln w="12700">
            <a:solidFill>
              <a:srgbClr val="C0352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48640" y="402336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Geopolitics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2697480" y="4023360"/>
            <a:ext cx="1014984" cy="402336"/>
          </a:xfrm>
          <a:prstGeom prst="rect">
            <a:avLst/>
          </a:prstGeom>
          <a:solidFill>
            <a:srgbClr val="BEC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697480" y="402336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3749040" y="4023360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749040" y="402336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4800600" y="4023360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800600" y="402336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5852160" y="4023360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852160" y="402336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6903720" y="4023360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903720" y="402336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7955280" y="4023360"/>
            <a:ext cx="1014984" cy="402336"/>
          </a:xfrm>
          <a:prstGeom prst="rect">
            <a:avLst/>
          </a:prstGeom>
          <a:solidFill>
            <a:srgbClr val="B1C2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955280" y="402336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9006840" y="4023360"/>
            <a:ext cx="1014984" cy="402336"/>
          </a:xfrm>
          <a:prstGeom prst="rect">
            <a:avLst/>
          </a:prstGeom>
          <a:solidFill>
            <a:srgbClr val="BEC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006840" y="402336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365760" y="4626864"/>
            <a:ext cx="109728" cy="109728"/>
          </a:xfrm>
          <a:prstGeom prst="rect">
            <a:avLst/>
          </a:prstGeom>
          <a:solidFill>
            <a:srgbClr val="6B8E9E"/>
          </a:solidFill>
          <a:ln w="12700">
            <a:solidFill>
              <a:srgbClr val="6B8E9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48640" y="446227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2697480" y="4462272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697480" y="4462272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3749040" y="4462272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749040" y="4462272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4800600" y="4462272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800600" y="4462272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5852160" y="4462272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852160" y="4462272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6903720" y="4462272"/>
            <a:ext cx="1014984" cy="402336"/>
          </a:xfrm>
          <a:prstGeom prst="rect">
            <a:avLst/>
          </a:prstGeom>
          <a:solidFill>
            <a:srgbClr val="B1C2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903720" y="4462272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7955280" y="4462272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955280" y="4462272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9006840" y="4462272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006840" y="4462272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365760" y="5065776"/>
            <a:ext cx="109728" cy="109728"/>
          </a:xfrm>
          <a:prstGeom prst="rect">
            <a:avLst/>
          </a:prstGeom>
          <a:solidFill>
            <a:srgbClr val="9B8C8C"/>
          </a:solidFill>
          <a:ln w="12700">
            <a:solidFill>
              <a:srgbClr val="9B8C8C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48640" y="490118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2697480" y="4901184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697480" y="4901184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3749040" y="4901184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749040" y="4901184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4800600" y="4901184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800600" y="4901184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5852160" y="4901184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852160" y="4901184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34" name="Shape 132"/>
          <p:cNvSpPr/>
          <p:nvPr/>
        </p:nvSpPr>
        <p:spPr>
          <a:xfrm>
            <a:off x="6903720" y="4901184"/>
            <a:ext cx="1014984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903720" y="4901184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7955280" y="4901184"/>
            <a:ext cx="1014984" cy="402336"/>
          </a:xfrm>
          <a:prstGeom prst="rect">
            <a:avLst/>
          </a:prstGeom>
          <a:solidFill>
            <a:srgbClr val="A5B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955280" y="4901184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9006840" y="4901184"/>
            <a:ext cx="1014984" cy="402336"/>
          </a:xfrm>
          <a:prstGeom prst="rect">
            <a:avLst/>
          </a:prstGeom>
          <a:solidFill>
            <a:srgbClr val="B1C2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9006840" y="4901184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0" name="Shape 138"/>
          <p:cNvSpPr/>
          <p:nvPr/>
        </p:nvSpPr>
        <p:spPr>
          <a:xfrm>
            <a:off x="9966960" y="1691640"/>
            <a:ext cx="1783080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9966960" y="18288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38%</a:t>
            </a:r>
            <a:endParaRPr lang="en-US" sz="5400" dirty="0"/>
          </a:p>
        </p:txBody>
      </p:sp>
      <p:sp>
        <p:nvSpPr>
          <p:cNvPr id="142" name="Text 140"/>
          <p:cNvSpPr/>
          <p:nvPr/>
        </p:nvSpPr>
        <p:spPr>
          <a:xfrm>
            <a:off x="9966960" y="2743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79 signals hit</a:t>
            </a:r>
            <a:endParaRPr lang="en-US" sz="1000" dirty="0"/>
          </a:p>
        </p:txBody>
      </p:sp>
      <p:sp>
        <p:nvSpPr>
          <p:cNvPr id="143" name="Text 141"/>
          <p:cNvSpPr/>
          <p:nvPr/>
        </p:nvSpPr>
        <p:spPr>
          <a:xfrm>
            <a:off x="9966960" y="30632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Platform 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1400" dirty="0"/>
          </a:p>
        </p:txBody>
      </p:sp>
      <p:sp>
        <p:nvSpPr>
          <p:cNvPr id="144" name="Shape 142"/>
          <p:cNvSpPr/>
          <p:nvPr/>
        </p:nvSpPr>
        <p:spPr>
          <a:xfrm>
            <a:off x="10332720" y="3794760"/>
            <a:ext cx="1051560" cy="2743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0058400" y="393192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Mar–Apr 2026 is where the story lives.</a:t>
            </a:r>
            <a:endParaRPr lang="en-US" sz="1000" dirty="0"/>
          </a:p>
        </p:txBody>
      </p:sp>
      <p:sp>
        <p:nvSpPr>
          <p:cNvPr id="146" name="Text 144"/>
          <p:cNvSpPr/>
          <p:nvPr/>
        </p:nvSpPr>
        <p:spPr>
          <a:xfrm>
            <a:off x="502920" y="6080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values = signal count per theme per month  ·  darker = higher volume  ·  GTC week dominates March</a:t>
            </a:r>
            <a:endParaRPr lang="en-US" sz="1000" dirty="0"/>
          </a:p>
        </p:txBody>
      </p:sp>
      <p:sp>
        <p:nvSpPr>
          <p:cNvPr id="147" name="Text 145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SIGNAL BRIEF  ·  2025-05 → 2026-04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5486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SENTIMENT DRIFT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surged, tone cooled into April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45920"/>
          <a:ext cx="75895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66760" y="1645920"/>
            <a:ext cx="3337560" cy="4343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66760" y="17830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+0.64 → +0.29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366760" y="24231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avg sentiment,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→ April 2026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098280" y="3063240"/>
            <a:ext cx="1874520" cy="2743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49640" y="3246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was pure GTC euphoria — 44 items, avg +0.64.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49640" y="41148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added $92M smuggling disclosures, Iran death-threat video, SchedMD backlash, PE at 7-year low — tone halved.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6080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months plotted  ·  bars = signal count (left axis)  ·  line = mean sentiment (right axis, −1…+1)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SIGNAL BRIEF  ·  2025-05 → 2026-04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5486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THEME  ·  AI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thunder: Blackwell → Vera Rubin → $1T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2743200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in-period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34440" y="3063240"/>
            <a:ext cx="1280160" cy="2743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$1T lifetime sales, Blackwell + Vera Rubin (through 2027)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8862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SCALE  ·  log-axis, orders of magnitude</a:t>
            </a:r>
            <a:endParaRPr lang="en-US" sz="9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4114800"/>
          <a:ext cx="63093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6903720" y="16459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HEADLINES  ·  SELECTED FROM 30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903720" y="2039112"/>
            <a:ext cx="11887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03720" y="20391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183880" y="199339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Vera Rubin platform launches with Micron HBM4 memory deal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83880" y="2404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903720" y="2752344"/>
            <a:ext cx="11887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03720" y="27523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183880" y="270662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H100 rental prices jump 40% as shortage bites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183880" y="31181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 · TipRanks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903720" y="3465576"/>
            <a:ext cx="11887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03720" y="346557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2026-03-16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183880" y="3419856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GTC 2026: Huang projects $1T orders through 2027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183880" y="38313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CNBC · TechCrunch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903720" y="4178808"/>
            <a:ext cx="11887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03720" y="41788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2026-02-25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183880" y="413308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Vera Rubin claimed 10x more efficient than predecessor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183880" y="45445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CNBC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903720" y="4892040"/>
            <a:ext cx="11887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03720" y="4892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183880" y="48463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Blackwell Ultra benchmarks: up to 50x perf, 35x cheaper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183880" y="52578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SemiAnalysis InferenceX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903720" y="5605272"/>
            <a:ext cx="11887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03720" y="56052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2025-12-04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183880" y="555955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CUDA 13.1 ships with Tile programming primitives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183880" y="59710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Developer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SIGNAL BRIEF  ·  2025-05 → 2026-04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5486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THEME  ·  LEADERSHIP &amp; GTC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Jensen is running the narrative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029200" cy="3566160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45920"/>
            <a:ext cx="82296" cy="356616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087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We've achieved AGI.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Jensen Huang, Mar 30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611880"/>
            <a:ext cx="1371600" cy="2743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9476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pillars are converging in Jensen's public rhetoric: AGI has arrived (Apr 5), engineers should earn 'AI tokens' on top of salary (Mar 20), and a consumer-surprise Taipei keynote is teed up before Computex 2026 (Apr 16).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5349240"/>
            <a:ext cx="50292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3492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54480" y="53492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/ GTC signals in-period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16459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 ·  SELECTED FROM 12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2221992"/>
            <a:ext cx="201168" cy="201168"/>
          </a:xfrm>
          <a:prstGeom prst="ellipse">
            <a:avLst/>
          </a:prstGeom>
          <a:solidFill>
            <a:srgbClr val="F5B7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0468" y="2404872"/>
            <a:ext cx="27432" cy="594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835640" y="2084832"/>
            <a:ext cx="777240" cy="25603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35640" y="20848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 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23500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GTC Taipei keynote teased ahead of Computex 2026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0" y="2999232"/>
            <a:ext cx="201168" cy="20116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0468" y="3182112"/>
            <a:ext cx="27432" cy="594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312724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Huang: 'AGI is here' — Yahoo Finance follow-up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0" y="3776472"/>
            <a:ext cx="201168" cy="20116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0468" y="3959352"/>
            <a:ext cx="27432" cy="594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2026-03-30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39044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AGI claim goes viral; definition debate ensues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943600" y="4553712"/>
            <a:ext cx="201168" cy="20116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0468" y="4736592"/>
            <a:ext cx="27432" cy="594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389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468172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AI-tokens-on-top-of-salary pitch (Yahoo / CNBC)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943600" y="5330952"/>
            <a:ext cx="201168" cy="20116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5166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2026-03-16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54589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GTC 2026: $1T orders, DLSS 5, OpenClaw, Olaf robot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SIGNAL BRIEF  ·  2025-05 → 2026-04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5486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THEME  ·  STRATEGIC DEALS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Buying distribution, not just selling chips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685032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64792"/>
            <a:ext cx="3685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$26B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496312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Invested in OpenAI models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80720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Forbes · Mar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685032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764792"/>
            <a:ext cx="3685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SchedMD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343400" y="2496312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— HPC scheduler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43400" y="280720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 · Apr 6-7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83880" y="1600200"/>
            <a:ext cx="3685032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1764792"/>
            <a:ext cx="3685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$5.5B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183880" y="2496312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Firmus ('Southgate') valuation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83880" y="280720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TechCrunch · Apr 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33756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DEAL SIGNALS  ·  SELECTED FROM 9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703320"/>
            <a:ext cx="11201400" cy="576072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703320"/>
            <a:ext cx="73152" cy="57607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749040"/>
            <a:ext cx="1280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3730752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Nvidia acquisition of SchedMD sparks worry among AI specialists about software access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920240" y="403250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Times of India · Reuters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370832"/>
            <a:ext cx="112014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370832"/>
            <a:ext cx="73152" cy="57607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16552"/>
            <a:ext cx="1280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2026-03-30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4398264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'We've achieved AGI' — definition debate underscores narrative power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920240" y="470001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Entertainment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5038344"/>
            <a:ext cx="11201400" cy="576072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5038344"/>
            <a:ext cx="73152" cy="57607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084064"/>
            <a:ext cx="1280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2026-03-15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20240" y="5065776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Taiwan AI economy bubble-risk &amp; geopolitical warnings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920240" y="5367528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Entertainment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5705856"/>
            <a:ext cx="112014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705856"/>
            <a:ext cx="73152" cy="57607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751576"/>
            <a:ext cx="1280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2026-03-12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920240" y="5733288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CUDA Power Play: Nvidia is investing $26 Billion in OpenAI models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920240" y="603504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SIGNAL BRIEF  ·  2025-05 → 2026-04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5486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THEME  ·  SOFTWARE &amp; CUDA MOAT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second moat, measured across 5 axes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55448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7269480" y="1645920"/>
            <a:ext cx="4434840" cy="4343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269480" y="1645920"/>
            <a:ext cx="91440" cy="434340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49808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READ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498080" y="2057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lead (10/10)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498080" y="23134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Blackwell Ultra 50x perf / 35x cheaper — InferenceX validated.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498080" y="2834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ecosystem (9/10)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498080" y="30906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13.1 Tile + AITune + SchedMD → full-stack control.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498080" y="3611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Mindshare (8/10)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498080" y="38679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$1T narrative consolidates GTC week; China still forced to 'break CUDA grip'.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498080" y="4389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Open-source hedge (6/10)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498080" y="46451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AITune is real, but SchedMD buy triggered dev-community worry.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498080" y="5166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Acquisition depth (7/10)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498080" y="54223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$26B OpenAI + SchedMD + Firmus — buying distribution, not just chips.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02920" y="6126480"/>
            <a:ext cx="112014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02920" y="6126480"/>
            <a:ext cx="91440" cy="3200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3152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analyst judgment (see speaker notes) on a 1–10 scale. Fill area = cumulative moat strength.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SIGNAL BRIEF  ·  2025-05 → 2026-04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548640"/>
          </a:xfrm>
          <a:prstGeom prst="rect">
            <a:avLst/>
          </a:prstGeom>
          <a:solidFill>
            <a:srgbClr val="C0352E"/>
          </a:solidFill>
          <a:ln w="12700">
            <a:solidFill>
              <a:srgbClr val="C035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RISK WATCHLIST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parallel risk threads opened this quarter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554480"/>
          <a:ext cx="7498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600200"/>
            <a:ext cx="356616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C035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0" y="1600200"/>
            <a:ext cx="1371600" cy="237744"/>
          </a:xfrm>
          <a:prstGeom prst="rect">
            <a:avLst/>
          </a:prstGeom>
          <a:solidFill>
            <a:srgbClr val="C0352E"/>
          </a:solidFill>
          <a:ln w="12700">
            <a:solidFill>
              <a:srgbClr val="C035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0" y="16002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CONTROL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0881360" y="162763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36676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Sharetronic smuggling ring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36676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$92M of banned H100/H200 chips disclosed to Beijing.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229600" y="2743200"/>
            <a:ext cx="356616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C035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0" y="2743200"/>
            <a:ext cx="1371600" cy="237744"/>
          </a:xfrm>
          <a:prstGeom prst="rect">
            <a:avLst/>
          </a:prstGeom>
          <a:solidFill>
            <a:srgbClr val="C0352E"/>
          </a:solidFill>
          <a:ln w="12700">
            <a:solidFill>
              <a:srgbClr val="C035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0" y="27432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SECURITY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0881360" y="277063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7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366760" y="3035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IRGC death-threat video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66760" y="3337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Iran's IRGC targets Huang + Altman; Trump 2-wk ceasefire.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229600" y="3886200"/>
            <a:ext cx="356616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C0352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3886200"/>
            <a:ext cx="1371600" cy="237744"/>
          </a:xfrm>
          <a:prstGeom prst="rect">
            <a:avLst/>
          </a:prstGeom>
          <a:solidFill>
            <a:srgbClr val="C0352E"/>
          </a:solidFill>
          <a:ln w="12700">
            <a:solidFill>
              <a:srgbClr val="C035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0" y="38862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0881360" y="391363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366760" y="4178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Supermicro $2.5B probe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366760" y="4480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Alleged smuggling of $2.5B in Nvidia chips to China.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229600" y="5029200"/>
            <a:ext cx="356616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C0352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29600" y="5029200"/>
            <a:ext cx="1371600" cy="237744"/>
          </a:xfrm>
          <a:prstGeom prst="rect">
            <a:avLst/>
          </a:prstGeom>
          <a:solidFill>
            <a:srgbClr val="C0352E"/>
          </a:solidFill>
          <a:ln w="12700">
            <a:solidFill>
              <a:srgbClr val="C0352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29600" y="50292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RELATIONS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10881360" y="505663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6–7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366760" y="5321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SchedMD acquisition blowback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366760" y="5623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specialists fear gating of open HPC software access.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SIGNAL BRIEF  ·  2025-05 → 2026-04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5486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FORWARD LOOK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watch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55648"/>
            <a:ext cx="685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5564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827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GTC Taipei keynote (pre-Computex 2026)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039112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AI reveals teased — track whether 'consumer surprise' materially widens NVIDIA's consumer GPU/Arm-SoC share.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692640" y="1920240"/>
            <a:ext cx="1965960" cy="320040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0" y="1920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thread: Leadership &amp; GTC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11201400" cy="1371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06040"/>
            <a:ext cx="685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060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2542032"/>
            <a:ext cx="827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Vera Rubin + Micron HBM4 ramp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2889504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Micron shipment cadence and any second-source HBM4 news — supply tightness is already visible (H100 +40%).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92640" y="2770632"/>
            <a:ext cx="1965960" cy="320040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27706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thread: AI Platform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319272"/>
            <a:ext cx="11201400" cy="1371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456432"/>
            <a:ext cx="685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5643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3392424"/>
            <a:ext cx="827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SchedMD / open-source narrative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3739896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AITune-style releases offset the SchedMD backlash, or does the dev community start hedging toward CUDA alternatives?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692640" y="3621024"/>
            <a:ext cx="1965960" cy="320040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362102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thread: Software &amp; CUDA Moat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169664"/>
            <a:ext cx="11201400" cy="1371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306824"/>
            <a:ext cx="685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306824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71600" y="4242816"/>
            <a:ext cx="827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Export-control enforcement cycle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71600" y="4590288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Sharetronic disclosures + Supermicro $2.5B probe likely produce fresh BIS or DOJ actions. Stock has priced in ceasefire optimism.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692640" y="4471416"/>
            <a:ext cx="1965960" cy="320040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447141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thread: Geopolitics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5020056"/>
            <a:ext cx="11201400" cy="1371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5157216"/>
            <a:ext cx="685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5157216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371600" y="5093208"/>
            <a:ext cx="827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$1T forecast reality check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371600" y="5440680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mid-2026, first Blackwell + Vera Rubin shipment data should let analysts stress-test the $1T-through-2027 claim.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692640" y="5321808"/>
            <a:ext cx="1965960" cy="320040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92640" y="53218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thread: Earnings &amp; Market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SIGNAL BRIEF  ·  2025-05 → 2026-04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5486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this brief was built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27432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37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after dedup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7432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737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8328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buckets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27432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737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≥7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26364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floor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0" y="1645920"/>
            <a:ext cx="27432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1737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mo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914400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2025-05 → 2026-04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154680"/>
            <a:ext cx="5760720" cy="3017520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154680"/>
            <a:ext cx="82296" cy="301752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246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520440"/>
            <a:ext cx="5394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from news, financial, social, patent, web, hiring, GitHub releases, CUDA forums, GTC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AI-analyze each item: relevance, sentiment, importance (0-10), tags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by title overlap (≥55%) — Primary &gt; Media &gt; Community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importance ≥ 7 for the brief; drop low-relevance community noise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into 7 themes; unclassified held aside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3154680"/>
            <a:ext cx="5257800" cy="3017520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3154680"/>
            <a:ext cx="82296" cy="301752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32461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MIX  ·  PARETO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350215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 aggregator = 68% of flow (54 / 79).</a:t>
            </a:r>
            <a:endParaRPr lang="en-US" sz="9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583680" y="3749040"/>
          <a:ext cx="50292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502920" y="626364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by the Personal Intelligence System. Dates are as published; importance scores are model-assigned and reviewed.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SIGNAL BRIEF  ·  2025-05 → 2026-04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NVIDIA Signal Brief — Last 11 months</dc:title>
  <dc:subject>PptxGenJS Presentation</dc:subject>
  <dc:creator>NVIDIA Signal Brief</dc:creator>
  <cp:lastModifiedBy>NVIDIA Signal Brief</cp:lastModifiedBy>
  <cp:revision>1</cp:revision>
  <dcterms:created xsi:type="dcterms:W3CDTF">2026-04-23T11:38:03Z</dcterms:created>
  <dcterms:modified xsi:type="dcterms:W3CDTF">2026-04-23T11:38:03Z</dcterms:modified>
</cp:coreProperties>
</file>